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9" r:id="rId11"/>
    <p:sldId id="268"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70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an FPGA-based single-phase power quality monitoring system with a particular focus on measurement uncertainty. The system combines a custom analogue sensing PCB, two 16-bit ADS8320 ADCs, a Nexys A7 FPGA and a Python GUI. Rather than only showing that the algorithms work, I also evaluated how well the complete measurement chain represents the applied input and where the available reference instruments limit the conclusions.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problem is that an FPGA can calculate RMS or THD correctly and the displayed answer can still be inaccurate because the samples may already contain gain error, offset, noise or timing error. That is why my aim was not only to build the monitor, but to evaluate the measurement chain itself. The design targets a 50 hertz single-phase system, samples both channels at 10 kilosamples per second, and uses 16-bit ADCs.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literature-review slide is a short version of the table in Chapter 2. I would explain that previous work supports FPGA use for deterministic and parallel power-quality processing. Yildirim et al. show online FPGA monitoring, and De Oro Arenas et al. show an FPGA smart-energy meter with Goertzel harmonics and calibration. Maśnicki et al. is important because it stresses that the whole measuring channel must be validated. My gap is therefore not simply implementing another algorithm. It is integrating the sensing PCB, ADCs, FPGA and GUI, then checking what the measurements and uncertainty actually support.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overall architecture. The voltage path uses a divider, AMC3330 isolation and OPA2188 conditioning before a dedicated ADS8320. The current path uses an ACS724 Hall sensor, OPA2188 conditioning and a second ADS8320. Both converters are controlled by the Nexys A7 at 10 kilosamples per second. The FPGA calculates the power-quality quantities and sends results to a Python GUI over UART. The two ADCs share control timing, but because the analogue paths are different, that does not by itself prove exact phase alignment.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was implemented on a custom four-layer PCB. The board includes isolation and conditioning for voltage, Hall-effect current sensing, a precision five-volt reference and two ADCs. Commissioning also revealed real prototype issues. The original buck-supply section was bypassed, so the final tests used an external six-volt supply at C33, and the AMC3330 required a jumper between LDO_OUT and DCDC_IN. I report those changes explicitly because the results apply to the actual as-tested hardware, not only to the original schematic.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FPGA, each 16-bit ADC sample is offset-corrected, scaled and fed to several processing blocks in parallel. The implemented functions include RMS, frequency, power, power factor, sag and swell detection, and adaptive Goertzel harmonic processing up to the twenty-fifth harmonic. The final physical tests used TEST_MODE false, so the system processed real ADC samples. Scalar metrics and waveform data are packetised separately and sent to the Python GUI, which also records raw ADC data for offline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there was no suitable isolated variable AC source, I deliberately used two separate experiments. For voltage, I used a signal generator and measured the actual test-point amplitude with a Tektronix TBS1052B-EDU and P2200 probe at ten-times attenuation. This supports low-voltage RMS comparisons, frequency operation and physical sag and swell tests. For current, I used a DC supply, resistor and Duratool D03124 on its ten-amp range, covering zero to about 0.46 amps. That supports static calibration and linearity, but not AC phase, current harmonics or live-load power-factor accuracy.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quantitative results. For voltage RMS, the first two test levels agreed with the oscilloscope to within about one percent, while the highest level showed a positive error of 6.18 percent. The three-point response was still strongly linear, with an R-squared of 0.994. For the current channel, the response from zero to 0.46 amps was extremely linear, with R-squared approximately 0.9996. On the FPGA side, the measured conversion cadence was 10 kilohertz, the final build met timing with positive worst setup slack, and resource utilisation remained modest. Physical sag and swell changes were also detected successfully.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the results should be interpreted. For voltage, the expanded comparison uncertainties were about plus or minus 37, 42 and 57 millivolts. The first two errors fall inside those intervals, but the 10 Vpp residual of about 66 millivolts remains outside, suggesting an additional systematic effect or a missing uncertainty contribution. For current, the DMM ten-amp range dominates the uncertainty, so the experiment demonstrates linear response but not milliampere-level absolute accuracy. The key point is that the prototype works, but the evidence does not justify unsupported claims about simultaneous AC power, power factor or independently validated THD accuracy.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3B70"/>
          </a:solidFill>
          <a:ln w="12700">
            <a:solidFill>
              <a:srgbClr val="003B70"/>
            </a:solidFill>
            <a:prstDash val="solid"/>
          </a:ln>
        </p:spPr>
        <p:txBody>
          <a:bodyPr/>
          <a:lstStyle/>
          <a:p>
            <a:endParaRPr lang="en-GB"/>
          </a:p>
        </p:txBody>
      </p:sp>
      <p:sp>
        <p:nvSpPr>
          <p:cNvPr id="3" name="Text 1"/>
          <p:cNvSpPr/>
          <p:nvPr/>
        </p:nvSpPr>
        <p:spPr>
          <a:xfrm>
            <a:off x="502920" y="6510528"/>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FPGA-Based Power Quality Monitoring</a:t>
            </a:r>
            <a:endParaRPr lang="en-US" sz="850" dirty="0"/>
          </a:p>
        </p:txBody>
      </p:sp>
      <p:sp>
        <p:nvSpPr>
          <p:cNvPr id="4" name="Text 2"/>
          <p:cNvSpPr/>
          <p:nvPr/>
        </p:nvSpPr>
        <p:spPr>
          <a:xfrm>
            <a:off x="6537960" y="6510528"/>
            <a:ext cx="512064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Hakeem Issah · MSc Electronic/Electrical Engineering</a:t>
            </a:r>
            <a:endParaRPr lang="en-US" sz="850" dirty="0"/>
          </a:p>
        </p:txBody>
      </p:sp>
      <p:sp>
        <p:nvSpPr>
          <p:cNvPr id="25"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7498080" cy="6858000"/>
          </a:xfrm>
          <a:prstGeom prst="rect">
            <a:avLst/>
          </a:prstGeom>
          <a:solidFill>
            <a:srgbClr val="003B70"/>
          </a:solidFill>
          <a:ln w="12700">
            <a:solidFill>
              <a:srgbClr val="003B70"/>
            </a:solidFill>
            <a:prstDash val="solid"/>
          </a:ln>
        </p:spPr>
        <p:txBody>
          <a:bodyPr/>
          <a:lstStyle/>
          <a:p>
            <a:endParaRPr dirty="0"/>
          </a:p>
        </p:txBody>
      </p:sp>
      <p:sp>
        <p:nvSpPr>
          <p:cNvPr id="3" name="Shape 1"/>
          <p:cNvSpPr/>
          <p:nvPr/>
        </p:nvSpPr>
        <p:spPr>
          <a:xfrm>
            <a:off x="7498080" y="0"/>
            <a:ext cx="4693615" cy="6858000"/>
          </a:xfrm>
          <a:prstGeom prst="rect">
            <a:avLst/>
          </a:prstGeom>
          <a:solidFill>
            <a:srgbClr val="FFFFFF"/>
          </a:solidFill>
          <a:ln w="12700">
            <a:solidFill>
              <a:srgbClr val="FFFFFF"/>
            </a:solidFill>
            <a:prstDash val="solid"/>
          </a:ln>
        </p:spPr>
        <p:txBody>
          <a:bodyPr/>
          <a:lstStyle/>
          <a:p>
            <a:endParaRPr/>
          </a:p>
        </p:txBody>
      </p:sp>
      <p:sp>
        <p:nvSpPr>
          <p:cNvPr id="4" name="Text 2"/>
          <p:cNvSpPr/>
          <p:nvPr/>
        </p:nvSpPr>
        <p:spPr>
          <a:xfrm>
            <a:off x="658368" y="658368"/>
            <a:ext cx="3383280" cy="219456"/>
          </a:xfrm>
          <a:prstGeom prst="rect">
            <a:avLst/>
          </a:prstGeom>
          <a:noFill/>
          <a:ln/>
        </p:spPr>
        <p:txBody>
          <a:bodyPr wrap="square" lIns="0" tIns="0" rIns="0" bIns="0" rtlCol="0" anchor="ctr"/>
          <a:lstStyle/>
          <a:p>
            <a:pPr marL="0" indent="0">
              <a:buNone/>
            </a:pPr>
            <a:r>
              <a:rPr lang="en-US" sz="1050" b="1" kern="0" spc="120" dirty="0">
                <a:solidFill>
                  <a:srgbClr val="B9D9F3"/>
                </a:solidFill>
              </a:rPr>
              <a:t>ENGINEERING MAJOR PROJECT</a:t>
            </a:r>
            <a:endParaRPr lang="en-US" sz="1050" dirty="0"/>
          </a:p>
        </p:txBody>
      </p:sp>
      <p:sp>
        <p:nvSpPr>
          <p:cNvPr id="5" name="Text 3"/>
          <p:cNvSpPr/>
          <p:nvPr/>
        </p:nvSpPr>
        <p:spPr>
          <a:xfrm>
            <a:off x="658368" y="1161288"/>
            <a:ext cx="6217920" cy="1417320"/>
          </a:xfrm>
          <a:prstGeom prst="rect">
            <a:avLst/>
          </a:prstGeom>
          <a:noFill/>
          <a:ln/>
        </p:spPr>
        <p:txBody>
          <a:bodyPr wrap="square" lIns="0" tIns="0" rIns="0" bIns="0" rtlCol="0" anchor="ctr">
            <a:normAutofit/>
          </a:bodyPr>
          <a:lstStyle/>
          <a:p>
            <a:pPr marL="0" indent="0">
              <a:buNone/>
            </a:pPr>
            <a:r>
              <a:rPr lang="en-US" sz="3200" b="1" dirty="0">
                <a:solidFill>
                  <a:srgbClr val="FFFFFF"/>
                </a:solidFill>
              </a:rPr>
              <a:t>FPGA-Based Power Quality</a:t>
            </a:r>
            <a:endParaRPr lang="en-US" sz="3200" dirty="0"/>
          </a:p>
          <a:p>
            <a:pPr marL="0" indent="0">
              <a:buNone/>
            </a:pPr>
            <a:r>
              <a:rPr lang="en-US" sz="3200" b="1" dirty="0">
                <a:solidFill>
                  <a:srgbClr val="FFFFFF"/>
                </a:solidFill>
              </a:rPr>
              <a:t>Monitoring</a:t>
            </a:r>
            <a:endParaRPr lang="en-US" sz="3200" dirty="0"/>
          </a:p>
        </p:txBody>
      </p:sp>
      <p:sp>
        <p:nvSpPr>
          <p:cNvPr id="6" name="Text 4"/>
          <p:cNvSpPr/>
          <p:nvPr/>
        </p:nvSpPr>
        <p:spPr>
          <a:xfrm>
            <a:off x="667512" y="2743200"/>
            <a:ext cx="5943600" cy="475488"/>
          </a:xfrm>
          <a:prstGeom prst="rect">
            <a:avLst/>
          </a:prstGeom>
          <a:noFill/>
          <a:ln/>
        </p:spPr>
        <p:txBody>
          <a:bodyPr wrap="square" lIns="0" tIns="0" rIns="0" bIns="0" rtlCol="0" anchor="ctr"/>
          <a:lstStyle/>
          <a:p>
            <a:pPr marL="0" indent="0">
              <a:buNone/>
            </a:pPr>
            <a:r>
              <a:rPr lang="en-US" sz="2000" dirty="0">
                <a:solidFill>
                  <a:srgbClr val="DCEAF7"/>
                </a:solidFill>
              </a:rPr>
              <a:t>with Measurement Uncertainty Analysis</a:t>
            </a:r>
            <a:endParaRPr lang="en-US" sz="2000" dirty="0"/>
          </a:p>
        </p:txBody>
      </p:sp>
      <p:sp>
        <p:nvSpPr>
          <p:cNvPr id="7" name="Shape 5"/>
          <p:cNvSpPr/>
          <p:nvPr/>
        </p:nvSpPr>
        <p:spPr>
          <a:xfrm>
            <a:off x="667512" y="3438144"/>
            <a:ext cx="1097280" cy="0"/>
          </a:xfrm>
          <a:prstGeom prst="line">
            <a:avLst/>
          </a:prstGeom>
          <a:noFill/>
          <a:ln w="12700">
            <a:solidFill>
              <a:srgbClr val="59A8D8"/>
            </a:solidFill>
            <a:prstDash val="solid"/>
          </a:ln>
        </p:spPr>
        <p:txBody>
          <a:bodyPr/>
          <a:lstStyle/>
          <a:p>
            <a:endParaRPr/>
          </a:p>
        </p:txBody>
      </p:sp>
      <p:sp>
        <p:nvSpPr>
          <p:cNvPr id="8" name="Text 6"/>
          <p:cNvSpPr/>
          <p:nvPr/>
        </p:nvSpPr>
        <p:spPr>
          <a:xfrm>
            <a:off x="667512" y="3913632"/>
            <a:ext cx="3200400" cy="320040"/>
          </a:xfrm>
          <a:prstGeom prst="rect">
            <a:avLst/>
          </a:prstGeom>
          <a:noFill/>
          <a:ln/>
        </p:spPr>
        <p:txBody>
          <a:bodyPr wrap="square" lIns="0" tIns="0" rIns="0" bIns="0" rtlCol="0" anchor="ctr"/>
          <a:lstStyle/>
          <a:p>
            <a:pPr marL="0" indent="0">
              <a:buNone/>
            </a:pPr>
            <a:r>
              <a:rPr lang="en-US" sz="1800" b="1" dirty="0">
                <a:solidFill>
                  <a:srgbClr val="FFFFFF"/>
                </a:solidFill>
              </a:rPr>
              <a:t>Hakeem Issah (2452525)</a:t>
            </a:r>
            <a:endParaRPr lang="en-US" sz="1800" dirty="0"/>
          </a:p>
        </p:txBody>
      </p:sp>
      <p:sp>
        <p:nvSpPr>
          <p:cNvPr id="9" name="Text 7"/>
          <p:cNvSpPr/>
          <p:nvPr/>
        </p:nvSpPr>
        <p:spPr>
          <a:xfrm>
            <a:off x="667512" y="4297680"/>
            <a:ext cx="4754880" cy="1399032"/>
          </a:xfrm>
          <a:prstGeom prst="rect">
            <a:avLst/>
          </a:prstGeom>
          <a:noFill/>
          <a:ln/>
        </p:spPr>
        <p:txBody>
          <a:bodyPr wrap="square" lIns="0" tIns="0" rIns="0" bIns="0" rtlCol="0" anchor="ctr"/>
          <a:lstStyle/>
          <a:p>
            <a:pPr marL="0" indent="0">
              <a:buNone/>
            </a:pPr>
            <a:r>
              <a:rPr lang="en-US" sz="1250" dirty="0">
                <a:solidFill>
                  <a:srgbClr val="D8E3EC"/>
                </a:solidFill>
              </a:rPr>
              <a:t>MSc Electronic/Electrical Engineering</a:t>
            </a:r>
            <a:endParaRPr lang="en-US" sz="1250" dirty="0"/>
          </a:p>
          <a:p>
            <a:pPr marL="0" indent="0">
              <a:buNone/>
            </a:pPr>
            <a:r>
              <a:rPr lang="en-US" sz="1250" dirty="0">
                <a:solidFill>
                  <a:srgbClr val="D8E3EC"/>
                </a:solidFill>
              </a:rPr>
              <a:t>Anglia Ruskin University · September 2026</a:t>
            </a:r>
          </a:p>
          <a:p>
            <a:pPr marL="0" indent="0">
              <a:buNone/>
            </a:pPr>
            <a:endParaRPr lang="en-US" sz="1250" dirty="0">
              <a:solidFill>
                <a:srgbClr val="D8E3EC"/>
              </a:solidFill>
            </a:endParaRPr>
          </a:p>
          <a:p>
            <a:pPr marL="0" indent="0">
              <a:buNone/>
            </a:pPr>
            <a:r>
              <a:rPr lang="en-US" sz="1250" b="1" dirty="0">
                <a:solidFill>
                  <a:schemeClr val="bg1">
                    <a:lumMod val="95000"/>
                  </a:schemeClr>
                </a:solidFill>
              </a:rPr>
              <a:t>Supervisor: Dr. Sufian Yousef</a:t>
            </a:r>
          </a:p>
        </p:txBody>
      </p:sp>
      <p:sp>
        <p:nvSpPr>
          <p:cNvPr id="10" name="Text 8"/>
          <p:cNvSpPr/>
          <p:nvPr/>
        </p:nvSpPr>
        <p:spPr>
          <a:xfrm>
            <a:off x="667512" y="5989320"/>
            <a:ext cx="1920240" cy="274320"/>
          </a:xfrm>
          <a:prstGeom prst="rect">
            <a:avLst/>
          </a:prstGeom>
          <a:solidFill>
            <a:srgbClr val="DCEAF7"/>
          </a:solidFill>
          <a:ln/>
        </p:spPr>
        <p:txBody>
          <a:bodyPr wrap="square" lIns="1016" tIns="1016" rIns="1016" bIns="1016" rtlCol="0" anchor="ctr"/>
          <a:lstStyle/>
          <a:p>
            <a:pPr marL="0" indent="0" algn="ctr">
              <a:buNone/>
            </a:pPr>
            <a:r>
              <a:rPr lang="en-US" sz="1050" b="1" dirty="0">
                <a:solidFill>
                  <a:srgbClr val="003B70"/>
                </a:solidFill>
              </a:rPr>
              <a:t>10-minute presentation</a:t>
            </a:r>
            <a:endParaRPr lang="en-US" sz="1050" dirty="0"/>
          </a:p>
        </p:txBody>
      </p:sp>
      <p:pic>
        <p:nvPicPr>
          <p:cNvPr id="11" name="Image 0" descr="/mnt/data/dissertation_media/word/media/image1.png"/>
          <p:cNvPicPr>
            <a:picLocks noChangeAspect="1"/>
          </p:cNvPicPr>
          <p:nvPr/>
        </p:nvPicPr>
        <p:blipFill>
          <a:blip r:embed="rId3"/>
          <a:stretch>
            <a:fillRect/>
          </a:stretch>
        </p:blipFill>
        <p:spPr>
          <a:xfrm>
            <a:off x="8182963" y="566928"/>
            <a:ext cx="3375969" cy="2148840"/>
          </a:xfrm>
          <a:prstGeom prst="rect">
            <a:avLst/>
          </a:prstGeom>
        </p:spPr>
      </p:pic>
      <p:pic>
        <p:nvPicPr>
          <p:cNvPr id="12" name="Image 1" descr="/mnt/data/dissertation_media/word/media/image7.png"/>
          <p:cNvPicPr>
            <a:picLocks noChangeAspect="1"/>
          </p:cNvPicPr>
          <p:nvPr/>
        </p:nvPicPr>
        <p:blipFill>
          <a:blip r:embed="rId4"/>
          <a:stretch>
            <a:fillRect/>
          </a:stretch>
        </p:blipFill>
        <p:spPr>
          <a:xfrm>
            <a:off x="7818120" y="3121057"/>
            <a:ext cx="4069080" cy="1850326"/>
          </a:xfrm>
          <a:prstGeom prst="rect">
            <a:avLst/>
          </a:prstGeom>
        </p:spPr>
      </p:pic>
      <p:sp>
        <p:nvSpPr>
          <p:cNvPr id="13" name="Text 9"/>
          <p:cNvSpPr/>
          <p:nvPr/>
        </p:nvSpPr>
        <p:spPr>
          <a:xfrm>
            <a:off x="7973568" y="5440680"/>
            <a:ext cx="3749040" cy="566928"/>
          </a:xfrm>
          <a:prstGeom prst="rect">
            <a:avLst/>
          </a:prstGeom>
          <a:noFill/>
          <a:ln/>
        </p:spPr>
        <p:txBody>
          <a:bodyPr wrap="square" lIns="0" tIns="0" rIns="0" bIns="0" rtlCol="0" anchor="ctr"/>
          <a:lstStyle/>
          <a:p>
            <a:pPr marL="0" indent="0" algn="ctr">
              <a:buNone/>
            </a:pPr>
            <a:r>
              <a:rPr lang="en-US" sz="1150" dirty="0">
                <a:solidFill>
                  <a:srgbClr val="5F6B7A"/>
                </a:solidFill>
              </a:rPr>
              <a:t>Custom 4-layer sensing PCB + Nexys A7 FPGA + Python GUI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0040"/>
            <a:ext cx="3657600" cy="201168"/>
          </a:xfrm>
          <a:prstGeom prst="rect">
            <a:avLst/>
          </a:prstGeom>
          <a:noFill/>
          <a:ln/>
        </p:spPr>
        <p:txBody>
          <a:bodyPr wrap="square" lIns="0" tIns="0" rIns="0" bIns="0" rtlCol="0" anchor="ctr"/>
          <a:lstStyle/>
          <a:p>
            <a:pPr marL="0" indent="0">
              <a:buNone/>
            </a:pPr>
            <a:r>
              <a:rPr lang="en-US" sz="1000" b="1" kern="0" spc="110" dirty="0">
                <a:solidFill>
                  <a:srgbClr val="2D78B7"/>
                </a:solidFill>
              </a:rPr>
              <a:t>MOTIVATION</a:t>
            </a:r>
            <a:endParaRPr lang="en-US" sz="1000" dirty="0"/>
          </a:p>
        </p:txBody>
      </p:sp>
      <p:sp>
        <p:nvSpPr>
          <p:cNvPr id="3" name="Text 1"/>
          <p:cNvSpPr/>
          <p:nvPr/>
        </p:nvSpPr>
        <p:spPr>
          <a:xfrm>
            <a:off x="566928" y="585216"/>
            <a:ext cx="10972800" cy="502920"/>
          </a:xfrm>
          <a:prstGeom prst="rect">
            <a:avLst/>
          </a:prstGeom>
          <a:noFill/>
          <a:ln/>
        </p:spPr>
        <p:txBody>
          <a:bodyPr wrap="square" lIns="0" tIns="0" rIns="0" bIns="0" rtlCol="0" anchor="ctr"/>
          <a:lstStyle/>
          <a:p>
            <a:pPr marL="0" indent="0">
              <a:buNone/>
            </a:pPr>
            <a:r>
              <a:rPr lang="en-US" sz="2600" b="1" dirty="0">
                <a:solidFill>
                  <a:srgbClr val="172033"/>
                </a:solidFill>
              </a:rPr>
              <a:t>Problem and project aim</a:t>
            </a:r>
            <a:endParaRPr lang="en-US" sz="2600" dirty="0"/>
          </a:p>
        </p:txBody>
      </p:sp>
      <p:sp>
        <p:nvSpPr>
          <p:cNvPr id="4" name="Shape 2"/>
          <p:cNvSpPr/>
          <p:nvPr/>
        </p:nvSpPr>
        <p:spPr>
          <a:xfrm>
            <a:off x="594360" y="1234440"/>
            <a:ext cx="3931920" cy="1920240"/>
          </a:xfrm>
          <a:prstGeom prst="roundRect">
            <a:avLst>
              <a:gd name="adj" fmla="val 3810"/>
            </a:avLst>
          </a:prstGeom>
          <a:solidFill>
            <a:srgbClr val="FFFFFF"/>
          </a:solidFill>
          <a:ln w="12700">
            <a:solidFill>
              <a:srgbClr val="D9E2EC"/>
            </a:solidFill>
            <a:prstDash val="solid"/>
          </a:ln>
          <a:effectLst>
            <a:outerShdw blurRad="25400" dist="12700" dir="2700000" algn="bl" rotWithShape="0">
              <a:srgbClr val="000000">
                <a:alpha val="16000"/>
              </a:srgbClr>
            </a:outerShdw>
          </a:effectLst>
        </p:spPr>
        <p:txBody>
          <a:bodyPr/>
          <a:lstStyle/>
          <a:p>
            <a:endParaRPr/>
          </a:p>
        </p:txBody>
      </p:sp>
      <p:sp>
        <p:nvSpPr>
          <p:cNvPr id="5" name="Text 3"/>
          <p:cNvSpPr/>
          <p:nvPr/>
        </p:nvSpPr>
        <p:spPr>
          <a:xfrm>
            <a:off x="841248" y="1481328"/>
            <a:ext cx="3246120" cy="256032"/>
          </a:xfrm>
          <a:prstGeom prst="rect">
            <a:avLst/>
          </a:prstGeom>
          <a:noFill/>
          <a:ln/>
        </p:spPr>
        <p:txBody>
          <a:bodyPr wrap="square" lIns="0" tIns="0" rIns="0" bIns="0" rtlCol="0" anchor="ctr"/>
          <a:lstStyle/>
          <a:p>
            <a:pPr marL="0" indent="0">
              <a:buNone/>
            </a:pPr>
            <a:r>
              <a:rPr lang="en-US" sz="1600" b="1" dirty="0">
                <a:solidFill>
                  <a:srgbClr val="003B70"/>
                </a:solidFill>
              </a:rPr>
              <a:t>The engineering problem</a:t>
            </a:r>
            <a:endParaRPr lang="en-US" sz="1600" dirty="0"/>
          </a:p>
        </p:txBody>
      </p:sp>
      <p:sp>
        <p:nvSpPr>
          <p:cNvPr id="6" name="Text 4"/>
          <p:cNvSpPr/>
          <p:nvPr/>
        </p:nvSpPr>
        <p:spPr>
          <a:xfrm>
            <a:off x="841248" y="1847088"/>
            <a:ext cx="3246120" cy="868680"/>
          </a:xfrm>
          <a:prstGeom prst="rect">
            <a:avLst/>
          </a:prstGeom>
          <a:noFill/>
          <a:ln/>
        </p:spPr>
        <p:txBody>
          <a:bodyPr wrap="square" lIns="254" tIns="254" rIns="254" bIns="254" rtlCol="0" anchor="ctr">
            <a:normAutofit fontScale="92500" lnSpcReduction="20000"/>
          </a:bodyPr>
          <a:lstStyle/>
          <a:p>
            <a:pPr marL="0" indent="0">
              <a:buNone/>
            </a:pPr>
            <a:r>
              <a:rPr lang="en-US" sz="1400" b="1" dirty="0">
                <a:solidFill>
                  <a:srgbClr val="172033"/>
                </a:solidFill>
              </a:rPr>
              <a:t>Correct FPGA maths does not guarantee correct measurement.
</a:t>
            </a:r>
            <a:r>
              <a:rPr lang="en-US" sz="1400" dirty="0">
                <a:solidFill>
                  <a:srgbClr val="172033"/>
                </a:solidFill>
              </a:rPr>
              <a:t>Sensor offset, analogue gain, noise, ADC reference and channel timing can all alter the samples before processing.</a:t>
            </a:r>
            <a:endParaRPr lang="en-US" sz="1400" dirty="0"/>
          </a:p>
        </p:txBody>
      </p:sp>
      <p:sp>
        <p:nvSpPr>
          <p:cNvPr id="7" name="Text 5"/>
          <p:cNvSpPr/>
          <p:nvPr/>
        </p:nvSpPr>
        <p:spPr>
          <a:xfrm>
            <a:off x="841248" y="2807208"/>
            <a:ext cx="3246120" cy="228600"/>
          </a:xfrm>
          <a:prstGeom prst="rect">
            <a:avLst/>
          </a:prstGeom>
          <a:noFill/>
          <a:ln/>
        </p:spPr>
        <p:txBody>
          <a:bodyPr wrap="square" lIns="0" tIns="0" rIns="0" bIns="0" rtlCol="0" anchor="ctr"/>
          <a:lstStyle/>
          <a:p>
            <a:pPr marL="0" indent="0">
              <a:buNone/>
            </a:pPr>
            <a:r>
              <a:rPr lang="en-US" sz="1150" i="1" dirty="0">
                <a:solidFill>
                  <a:srgbClr val="5F6B7A"/>
                </a:solidFill>
              </a:rPr>
              <a:t>A prototype must therefore be tested as a complete measurement chain.</a:t>
            </a:r>
            <a:endParaRPr lang="en-US" sz="1150" dirty="0"/>
          </a:p>
        </p:txBody>
      </p:sp>
      <p:sp>
        <p:nvSpPr>
          <p:cNvPr id="8" name="Shape 6"/>
          <p:cNvSpPr/>
          <p:nvPr/>
        </p:nvSpPr>
        <p:spPr>
          <a:xfrm>
            <a:off x="4846320" y="1481328"/>
            <a:ext cx="1033272" cy="640080"/>
          </a:xfrm>
          <a:prstGeom prst="roundRect">
            <a:avLst/>
          </a:prstGeom>
          <a:solidFill>
            <a:srgbClr val="EAF3FA"/>
          </a:solidFill>
          <a:ln w="12700">
            <a:solidFill>
              <a:srgbClr val="2D78B7"/>
            </a:solidFill>
            <a:prstDash val="solid"/>
          </a:ln>
        </p:spPr>
        <p:txBody>
          <a:bodyPr/>
          <a:lstStyle/>
          <a:p>
            <a:endParaRPr/>
          </a:p>
        </p:txBody>
      </p:sp>
      <p:sp>
        <p:nvSpPr>
          <p:cNvPr id="9" name="Text 7"/>
          <p:cNvSpPr/>
          <p:nvPr/>
        </p:nvSpPr>
        <p:spPr>
          <a:xfrm>
            <a:off x="4892040" y="1691640"/>
            <a:ext cx="941832"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rPr>
              <a:t>Sensing</a:t>
            </a:r>
            <a:endParaRPr lang="en-US" sz="1100" dirty="0"/>
          </a:p>
        </p:txBody>
      </p:sp>
      <p:sp>
        <p:nvSpPr>
          <p:cNvPr id="10" name="Shape 8"/>
          <p:cNvSpPr/>
          <p:nvPr/>
        </p:nvSpPr>
        <p:spPr>
          <a:xfrm>
            <a:off x="5897880" y="1664208"/>
            <a:ext cx="228600" cy="256032"/>
          </a:xfrm>
          <a:prstGeom prst="chevron">
            <a:avLst/>
          </a:prstGeom>
          <a:solidFill>
            <a:srgbClr val="9FB6CA"/>
          </a:solidFill>
          <a:ln w="12700">
            <a:solidFill>
              <a:srgbClr val="9FB6CA"/>
            </a:solidFill>
            <a:prstDash val="solid"/>
          </a:ln>
        </p:spPr>
        <p:txBody>
          <a:bodyPr/>
          <a:lstStyle/>
          <a:p>
            <a:endParaRPr/>
          </a:p>
        </p:txBody>
      </p:sp>
      <p:sp>
        <p:nvSpPr>
          <p:cNvPr id="11" name="Shape 9"/>
          <p:cNvSpPr/>
          <p:nvPr/>
        </p:nvSpPr>
        <p:spPr>
          <a:xfrm>
            <a:off x="6172200" y="1481328"/>
            <a:ext cx="1033272" cy="640080"/>
          </a:xfrm>
          <a:prstGeom prst="roundRect">
            <a:avLst/>
          </a:prstGeom>
          <a:solidFill>
            <a:srgbClr val="EAF3FA"/>
          </a:solidFill>
          <a:ln w="12700">
            <a:solidFill>
              <a:srgbClr val="2D78B7"/>
            </a:solidFill>
            <a:prstDash val="solid"/>
          </a:ln>
        </p:spPr>
        <p:txBody>
          <a:bodyPr/>
          <a:lstStyle/>
          <a:p>
            <a:endParaRPr/>
          </a:p>
        </p:txBody>
      </p:sp>
      <p:sp>
        <p:nvSpPr>
          <p:cNvPr id="12" name="Text 10"/>
          <p:cNvSpPr/>
          <p:nvPr/>
        </p:nvSpPr>
        <p:spPr>
          <a:xfrm>
            <a:off x="6217920" y="1691640"/>
            <a:ext cx="941832"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rPr>
              <a:t>Conditioning</a:t>
            </a:r>
            <a:endParaRPr lang="en-US" sz="1100" dirty="0"/>
          </a:p>
        </p:txBody>
      </p:sp>
      <p:sp>
        <p:nvSpPr>
          <p:cNvPr id="13" name="Shape 11"/>
          <p:cNvSpPr/>
          <p:nvPr/>
        </p:nvSpPr>
        <p:spPr>
          <a:xfrm>
            <a:off x="7223760" y="1664208"/>
            <a:ext cx="228600" cy="256032"/>
          </a:xfrm>
          <a:prstGeom prst="chevron">
            <a:avLst/>
          </a:prstGeom>
          <a:solidFill>
            <a:srgbClr val="9FB6CA"/>
          </a:solidFill>
          <a:ln w="12700">
            <a:solidFill>
              <a:srgbClr val="9FB6CA"/>
            </a:solidFill>
            <a:prstDash val="solid"/>
          </a:ln>
        </p:spPr>
        <p:txBody>
          <a:bodyPr/>
          <a:lstStyle/>
          <a:p>
            <a:endParaRPr/>
          </a:p>
        </p:txBody>
      </p:sp>
      <p:sp>
        <p:nvSpPr>
          <p:cNvPr id="14" name="Shape 12"/>
          <p:cNvSpPr/>
          <p:nvPr/>
        </p:nvSpPr>
        <p:spPr>
          <a:xfrm>
            <a:off x="7498080" y="1481328"/>
            <a:ext cx="1033272" cy="640080"/>
          </a:xfrm>
          <a:prstGeom prst="roundRect">
            <a:avLst/>
          </a:prstGeom>
          <a:solidFill>
            <a:srgbClr val="EAF3FA"/>
          </a:solidFill>
          <a:ln w="12700">
            <a:solidFill>
              <a:srgbClr val="2D78B7"/>
            </a:solidFill>
            <a:prstDash val="solid"/>
          </a:ln>
        </p:spPr>
        <p:txBody>
          <a:bodyPr/>
          <a:lstStyle/>
          <a:p>
            <a:endParaRPr/>
          </a:p>
        </p:txBody>
      </p:sp>
      <p:sp>
        <p:nvSpPr>
          <p:cNvPr id="15" name="Text 13"/>
          <p:cNvSpPr/>
          <p:nvPr/>
        </p:nvSpPr>
        <p:spPr>
          <a:xfrm>
            <a:off x="7543800" y="1691640"/>
            <a:ext cx="941832"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rPr>
              <a:t>16-bit ADC</a:t>
            </a:r>
            <a:endParaRPr lang="en-US" sz="1100" dirty="0"/>
          </a:p>
        </p:txBody>
      </p:sp>
      <p:sp>
        <p:nvSpPr>
          <p:cNvPr id="16" name="Shape 14"/>
          <p:cNvSpPr/>
          <p:nvPr/>
        </p:nvSpPr>
        <p:spPr>
          <a:xfrm>
            <a:off x="8549640" y="1664208"/>
            <a:ext cx="228600" cy="256032"/>
          </a:xfrm>
          <a:prstGeom prst="chevron">
            <a:avLst/>
          </a:prstGeom>
          <a:solidFill>
            <a:srgbClr val="9FB6CA"/>
          </a:solidFill>
          <a:ln w="12700">
            <a:solidFill>
              <a:srgbClr val="9FB6CA"/>
            </a:solidFill>
            <a:prstDash val="solid"/>
          </a:ln>
        </p:spPr>
        <p:txBody>
          <a:bodyPr/>
          <a:lstStyle/>
          <a:p>
            <a:endParaRPr/>
          </a:p>
        </p:txBody>
      </p:sp>
      <p:sp>
        <p:nvSpPr>
          <p:cNvPr id="17" name="Shape 15"/>
          <p:cNvSpPr/>
          <p:nvPr/>
        </p:nvSpPr>
        <p:spPr>
          <a:xfrm>
            <a:off x="8823960" y="1481328"/>
            <a:ext cx="1033272" cy="640080"/>
          </a:xfrm>
          <a:prstGeom prst="roundRect">
            <a:avLst/>
          </a:prstGeom>
          <a:solidFill>
            <a:srgbClr val="FFFFFF"/>
          </a:solidFill>
          <a:ln w="12700">
            <a:solidFill>
              <a:srgbClr val="D9E2EC"/>
            </a:solidFill>
            <a:prstDash val="solid"/>
          </a:ln>
        </p:spPr>
        <p:txBody>
          <a:bodyPr/>
          <a:lstStyle/>
          <a:p>
            <a:endParaRPr/>
          </a:p>
        </p:txBody>
      </p:sp>
      <p:sp>
        <p:nvSpPr>
          <p:cNvPr id="18" name="Text 16"/>
          <p:cNvSpPr/>
          <p:nvPr/>
        </p:nvSpPr>
        <p:spPr>
          <a:xfrm>
            <a:off x="8869680" y="1691640"/>
            <a:ext cx="941832"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rPr>
              <a:t>FPGA</a:t>
            </a:r>
            <a:endParaRPr lang="en-US" sz="1100" dirty="0"/>
          </a:p>
        </p:txBody>
      </p:sp>
      <p:sp>
        <p:nvSpPr>
          <p:cNvPr id="19" name="Shape 17"/>
          <p:cNvSpPr/>
          <p:nvPr/>
        </p:nvSpPr>
        <p:spPr>
          <a:xfrm>
            <a:off x="9875520" y="1664208"/>
            <a:ext cx="228600" cy="256032"/>
          </a:xfrm>
          <a:prstGeom prst="chevron">
            <a:avLst/>
          </a:prstGeom>
          <a:solidFill>
            <a:srgbClr val="9FB6CA"/>
          </a:solidFill>
          <a:ln w="12700">
            <a:solidFill>
              <a:srgbClr val="9FB6CA"/>
            </a:solidFill>
            <a:prstDash val="solid"/>
          </a:ln>
        </p:spPr>
        <p:txBody>
          <a:bodyPr/>
          <a:lstStyle/>
          <a:p>
            <a:endParaRPr/>
          </a:p>
        </p:txBody>
      </p:sp>
      <p:sp>
        <p:nvSpPr>
          <p:cNvPr id="20" name="Shape 18"/>
          <p:cNvSpPr/>
          <p:nvPr/>
        </p:nvSpPr>
        <p:spPr>
          <a:xfrm>
            <a:off x="10149840" y="1481328"/>
            <a:ext cx="1033272" cy="640080"/>
          </a:xfrm>
          <a:prstGeom prst="roundRect">
            <a:avLst/>
          </a:prstGeom>
          <a:solidFill>
            <a:srgbClr val="FFFFFF"/>
          </a:solidFill>
          <a:ln w="12700">
            <a:solidFill>
              <a:srgbClr val="D9E2EC"/>
            </a:solidFill>
            <a:prstDash val="solid"/>
          </a:ln>
        </p:spPr>
        <p:txBody>
          <a:bodyPr/>
          <a:lstStyle/>
          <a:p>
            <a:endParaRPr/>
          </a:p>
        </p:txBody>
      </p:sp>
      <p:sp>
        <p:nvSpPr>
          <p:cNvPr id="21" name="Text 19"/>
          <p:cNvSpPr/>
          <p:nvPr/>
        </p:nvSpPr>
        <p:spPr>
          <a:xfrm>
            <a:off x="10195560" y="1691640"/>
            <a:ext cx="941832"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rPr>
              <a:t>GUI</a:t>
            </a:r>
            <a:endParaRPr lang="en-US" sz="1100" dirty="0"/>
          </a:p>
        </p:txBody>
      </p:sp>
      <p:sp>
        <p:nvSpPr>
          <p:cNvPr id="22" name="Text 20"/>
          <p:cNvSpPr/>
          <p:nvPr/>
        </p:nvSpPr>
        <p:spPr>
          <a:xfrm>
            <a:off x="4983480" y="2359152"/>
            <a:ext cx="3794760" cy="256032"/>
          </a:xfrm>
          <a:prstGeom prst="rect">
            <a:avLst/>
          </a:prstGeom>
          <a:noFill/>
          <a:ln/>
        </p:spPr>
        <p:txBody>
          <a:bodyPr wrap="square" lIns="0" tIns="0" rIns="0" bIns="0" rtlCol="0" anchor="ctr"/>
          <a:lstStyle/>
          <a:p>
            <a:pPr marL="0" indent="0">
              <a:buNone/>
            </a:pPr>
            <a:r>
              <a:rPr lang="en-US" sz="1050" b="1" dirty="0">
                <a:solidFill>
                  <a:srgbClr val="C84B4B"/>
                </a:solidFill>
              </a:rPr>
              <a:t>measurement uncertainty enters before the digital result</a:t>
            </a:r>
            <a:endParaRPr lang="en-US" sz="1050" dirty="0"/>
          </a:p>
        </p:txBody>
      </p:sp>
      <p:sp>
        <p:nvSpPr>
          <p:cNvPr id="23" name="Shape 21"/>
          <p:cNvSpPr/>
          <p:nvPr/>
        </p:nvSpPr>
        <p:spPr>
          <a:xfrm>
            <a:off x="5029200" y="2240280"/>
            <a:ext cx="3401568" cy="0"/>
          </a:xfrm>
          <a:prstGeom prst="line">
            <a:avLst/>
          </a:prstGeom>
          <a:noFill/>
          <a:ln w="12700">
            <a:solidFill>
              <a:srgbClr val="C84B4B"/>
            </a:solidFill>
            <a:prstDash val="solid"/>
          </a:ln>
        </p:spPr>
        <p:txBody>
          <a:bodyPr/>
          <a:lstStyle/>
          <a:p>
            <a:endParaRPr/>
          </a:p>
        </p:txBody>
      </p:sp>
      <p:sp>
        <p:nvSpPr>
          <p:cNvPr id="24" name="Shape 22"/>
          <p:cNvSpPr/>
          <p:nvPr/>
        </p:nvSpPr>
        <p:spPr>
          <a:xfrm>
            <a:off x="4828032" y="3108960"/>
            <a:ext cx="6583680" cy="1883664"/>
          </a:xfrm>
          <a:prstGeom prst="roundRect">
            <a:avLst>
              <a:gd name="adj" fmla="val 3883"/>
            </a:avLst>
          </a:prstGeom>
          <a:solidFill>
            <a:srgbClr val="EAF6F0"/>
          </a:solidFill>
          <a:ln w="12700">
            <a:solidFill>
              <a:srgbClr val="CFE8DB"/>
            </a:solidFill>
            <a:prstDash val="solid"/>
          </a:ln>
          <a:effectLst>
            <a:outerShdw blurRad="322580000" dist="161290000" algn="bl" rotWithShape="0">
              <a:srgbClr val="000000">
                <a:alpha val="0"/>
              </a:srgbClr>
            </a:outerShdw>
          </a:effectLst>
        </p:spPr>
        <p:txBody>
          <a:bodyPr/>
          <a:lstStyle/>
          <a:p>
            <a:endParaRPr/>
          </a:p>
        </p:txBody>
      </p:sp>
      <p:sp>
        <p:nvSpPr>
          <p:cNvPr id="25" name="Text 23"/>
          <p:cNvSpPr/>
          <p:nvPr/>
        </p:nvSpPr>
        <p:spPr>
          <a:xfrm>
            <a:off x="5138928" y="3383280"/>
            <a:ext cx="1828800" cy="274320"/>
          </a:xfrm>
          <a:prstGeom prst="rect">
            <a:avLst/>
          </a:prstGeom>
          <a:noFill/>
          <a:ln/>
        </p:spPr>
        <p:txBody>
          <a:bodyPr wrap="square" lIns="0" tIns="0" rIns="0" bIns="0" rtlCol="0" anchor="ctr"/>
          <a:lstStyle/>
          <a:p>
            <a:pPr marL="0" indent="0">
              <a:buNone/>
            </a:pPr>
            <a:r>
              <a:rPr lang="en-US" sz="1600" b="1" dirty="0">
                <a:solidFill>
                  <a:srgbClr val="26855B"/>
                </a:solidFill>
              </a:rPr>
              <a:t>Project aim</a:t>
            </a:r>
            <a:endParaRPr lang="en-US" sz="1600" dirty="0"/>
          </a:p>
        </p:txBody>
      </p:sp>
      <p:sp>
        <p:nvSpPr>
          <p:cNvPr id="26" name="Text 24"/>
          <p:cNvSpPr/>
          <p:nvPr/>
        </p:nvSpPr>
        <p:spPr>
          <a:xfrm>
            <a:off x="5138928" y="3749040"/>
            <a:ext cx="5852160" cy="713232"/>
          </a:xfrm>
          <a:prstGeom prst="rect">
            <a:avLst/>
          </a:prstGeom>
          <a:noFill/>
          <a:ln/>
        </p:spPr>
        <p:txBody>
          <a:bodyPr wrap="square" lIns="0" tIns="0" rIns="0" bIns="0" rtlCol="0" anchor="ctr">
            <a:normAutofit/>
          </a:bodyPr>
          <a:lstStyle/>
          <a:p>
            <a:pPr marL="0" indent="0">
              <a:buNone/>
            </a:pPr>
            <a:r>
              <a:rPr lang="en-US" sz="1520" dirty="0">
                <a:solidFill>
                  <a:srgbClr val="172033"/>
                </a:solidFill>
              </a:rPr>
              <a:t>Design and implement a single-phase FPGA-based power quality monitor, then evaluate its measurement-chain performance using calibration, reference comparisons and uncertainty analysis.</a:t>
            </a:r>
            <a:endParaRPr lang="en-US" sz="1520" dirty="0"/>
          </a:p>
        </p:txBody>
      </p:sp>
      <p:sp>
        <p:nvSpPr>
          <p:cNvPr id="27" name="Shape 25"/>
          <p:cNvSpPr/>
          <p:nvPr/>
        </p:nvSpPr>
        <p:spPr>
          <a:xfrm>
            <a:off x="5148072" y="4590288"/>
            <a:ext cx="1417320" cy="310896"/>
          </a:xfrm>
          <a:prstGeom prst="roundRect">
            <a:avLst/>
          </a:prstGeom>
          <a:solidFill>
            <a:srgbClr val="EAF3FA"/>
          </a:solidFill>
          <a:ln w="12700">
            <a:solidFill>
              <a:srgbClr val="EAF3FA"/>
            </a:solidFill>
            <a:prstDash val="solid"/>
          </a:ln>
        </p:spPr>
        <p:txBody>
          <a:bodyPr/>
          <a:lstStyle/>
          <a:p>
            <a:endParaRPr/>
          </a:p>
        </p:txBody>
      </p:sp>
      <p:sp>
        <p:nvSpPr>
          <p:cNvPr id="28" name="Text 26"/>
          <p:cNvSpPr/>
          <p:nvPr/>
        </p:nvSpPr>
        <p:spPr>
          <a:xfrm>
            <a:off x="5221224" y="4658868"/>
            <a:ext cx="1271016" cy="146304"/>
          </a:xfrm>
          <a:prstGeom prst="rect">
            <a:avLst/>
          </a:prstGeom>
          <a:noFill/>
          <a:ln/>
        </p:spPr>
        <p:txBody>
          <a:bodyPr wrap="square" lIns="0" tIns="0" rIns="0" bIns="0" rtlCol="0" anchor="ctr">
            <a:normAutofit/>
          </a:bodyPr>
          <a:lstStyle/>
          <a:p>
            <a:pPr marL="0" indent="0" algn="ctr">
              <a:buNone/>
            </a:pPr>
            <a:r>
              <a:rPr lang="en-US" sz="930" b="1" dirty="0">
                <a:solidFill>
                  <a:srgbClr val="003B70"/>
                </a:solidFill>
              </a:rPr>
              <a:t>50 Hz nominal</a:t>
            </a:r>
            <a:endParaRPr lang="en-US" sz="930" dirty="0"/>
          </a:p>
        </p:txBody>
      </p:sp>
      <p:sp>
        <p:nvSpPr>
          <p:cNvPr id="29" name="Shape 27"/>
          <p:cNvSpPr/>
          <p:nvPr/>
        </p:nvSpPr>
        <p:spPr>
          <a:xfrm>
            <a:off x="6720840" y="4590288"/>
            <a:ext cx="1417320" cy="310896"/>
          </a:xfrm>
          <a:prstGeom prst="roundRect">
            <a:avLst/>
          </a:prstGeom>
          <a:solidFill>
            <a:srgbClr val="EAF3FA"/>
          </a:solidFill>
          <a:ln w="12700">
            <a:solidFill>
              <a:srgbClr val="EAF3FA"/>
            </a:solidFill>
            <a:prstDash val="solid"/>
          </a:ln>
        </p:spPr>
        <p:txBody>
          <a:bodyPr/>
          <a:lstStyle/>
          <a:p>
            <a:endParaRPr/>
          </a:p>
        </p:txBody>
      </p:sp>
      <p:sp>
        <p:nvSpPr>
          <p:cNvPr id="30" name="Text 28"/>
          <p:cNvSpPr/>
          <p:nvPr/>
        </p:nvSpPr>
        <p:spPr>
          <a:xfrm>
            <a:off x="6793992" y="4658868"/>
            <a:ext cx="1271016" cy="146304"/>
          </a:xfrm>
          <a:prstGeom prst="rect">
            <a:avLst/>
          </a:prstGeom>
          <a:noFill/>
          <a:ln/>
        </p:spPr>
        <p:txBody>
          <a:bodyPr wrap="square" lIns="0" tIns="0" rIns="0" bIns="0" rtlCol="0" anchor="ctr">
            <a:normAutofit/>
          </a:bodyPr>
          <a:lstStyle/>
          <a:p>
            <a:pPr marL="0" indent="0" algn="ctr">
              <a:buNone/>
            </a:pPr>
            <a:r>
              <a:rPr lang="en-US" sz="930" b="1" dirty="0">
                <a:solidFill>
                  <a:srgbClr val="003B70"/>
                </a:solidFill>
              </a:rPr>
              <a:t>10 kS/s / ch</a:t>
            </a:r>
            <a:endParaRPr lang="en-US" sz="930" dirty="0"/>
          </a:p>
        </p:txBody>
      </p:sp>
      <p:sp>
        <p:nvSpPr>
          <p:cNvPr id="31" name="Shape 29"/>
          <p:cNvSpPr/>
          <p:nvPr/>
        </p:nvSpPr>
        <p:spPr>
          <a:xfrm>
            <a:off x="8293608" y="4590288"/>
            <a:ext cx="1417320" cy="310896"/>
          </a:xfrm>
          <a:prstGeom prst="roundRect">
            <a:avLst/>
          </a:prstGeom>
          <a:solidFill>
            <a:srgbClr val="EAF3FA"/>
          </a:solidFill>
          <a:ln w="12700">
            <a:solidFill>
              <a:srgbClr val="EAF3FA"/>
            </a:solidFill>
            <a:prstDash val="solid"/>
          </a:ln>
        </p:spPr>
        <p:txBody>
          <a:bodyPr/>
          <a:lstStyle/>
          <a:p>
            <a:endParaRPr/>
          </a:p>
        </p:txBody>
      </p:sp>
      <p:sp>
        <p:nvSpPr>
          <p:cNvPr id="32" name="Text 30"/>
          <p:cNvSpPr/>
          <p:nvPr/>
        </p:nvSpPr>
        <p:spPr>
          <a:xfrm>
            <a:off x="8366760" y="4658868"/>
            <a:ext cx="1271016" cy="146304"/>
          </a:xfrm>
          <a:prstGeom prst="rect">
            <a:avLst/>
          </a:prstGeom>
          <a:noFill/>
          <a:ln/>
        </p:spPr>
        <p:txBody>
          <a:bodyPr wrap="square" lIns="0" tIns="0" rIns="0" bIns="0" rtlCol="0" anchor="ctr">
            <a:normAutofit/>
          </a:bodyPr>
          <a:lstStyle/>
          <a:p>
            <a:pPr marL="0" indent="0" algn="ctr">
              <a:buNone/>
            </a:pPr>
            <a:r>
              <a:rPr lang="en-US" sz="930" b="1" dirty="0">
                <a:solidFill>
                  <a:srgbClr val="003B70"/>
                </a:solidFill>
              </a:rPr>
              <a:t>Single phase</a:t>
            </a:r>
            <a:endParaRPr lang="en-US" sz="930" dirty="0"/>
          </a:p>
        </p:txBody>
      </p:sp>
      <p:sp>
        <p:nvSpPr>
          <p:cNvPr id="33" name="Shape 31"/>
          <p:cNvSpPr/>
          <p:nvPr/>
        </p:nvSpPr>
        <p:spPr>
          <a:xfrm>
            <a:off x="9866376" y="4590288"/>
            <a:ext cx="1161288" cy="310896"/>
          </a:xfrm>
          <a:prstGeom prst="roundRect">
            <a:avLst/>
          </a:prstGeom>
          <a:solidFill>
            <a:srgbClr val="EAF3FA"/>
          </a:solidFill>
          <a:ln w="12700">
            <a:solidFill>
              <a:srgbClr val="EAF3FA"/>
            </a:solidFill>
            <a:prstDash val="solid"/>
          </a:ln>
        </p:spPr>
        <p:txBody>
          <a:bodyPr/>
          <a:lstStyle/>
          <a:p>
            <a:endParaRPr/>
          </a:p>
        </p:txBody>
      </p:sp>
      <p:sp>
        <p:nvSpPr>
          <p:cNvPr id="34" name="Text 32"/>
          <p:cNvSpPr/>
          <p:nvPr/>
        </p:nvSpPr>
        <p:spPr>
          <a:xfrm>
            <a:off x="9939528" y="4658868"/>
            <a:ext cx="1014984" cy="146304"/>
          </a:xfrm>
          <a:prstGeom prst="rect">
            <a:avLst/>
          </a:prstGeom>
          <a:noFill/>
          <a:ln/>
        </p:spPr>
        <p:txBody>
          <a:bodyPr wrap="square" lIns="0" tIns="0" rIns="0" bIns="0" rtlCol="0" anchor="ctr">
            <a:normAutofit/>
          </a:bodyPr>
          <a:lstStyle/>
          <a:p>
            <a:pPr marL="0" indent="0" algn="ctr">
              <a:buNone/>
            </a:pPr>
            <a:r>
              <a:rPr lang="en-US" sz="930" b="1" dirty="0">
                <a:solidFill>
                  <a:srgbClr val="003B70"/>
                </a:solidFill>
              </a:rPr>
              <a:t>16-bit ADC</a:t>
            </a:r>
            <a:endParaRPr lang="en-US" sz="930" dirty="0"/>
          </a:p>
        </p:txBody>
      </p:sp>
      <p:sp>
        <p:nvSpPr>
          <p:cNvPr id="35"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4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28600"/>
          </a:xfrm>
          <a:prstGeom prst="rect">
            <a:avLst/>
          </a:prstGeom>
          <a:noFill/>
        </p:spPr>
        <p:txBody>
          <a:bodyPr wrap="none">
            <a:spAutoFit/>
          </a:bodyPr>
          <a:lstStyle/>
          <a:p>
            <a:r>
              <a:rPr sz="800" b="1">
                <a:solidFill>
                  <a:srgbClr val="005992"/>
                </a:solidFill>
                <a:latin typeface="Aptos"/>
              </a:rPr>
              <a:t>LITERATURE REVIEW</a:t>
            </a:r>
          </a:p>
        </p:txBody>
      </p:sp>
      <p:sp>
        <p:nvSpPr>
          <p:cNvPr id="4" name="TextBox 3"/>
          <p:cNvSpPr txBox="1"/>
          <p:nvPr/>
        </p:nvSpPr>
        <p:spPr>
          <a:xfrm>
            <a:off x="502920" y="475488"/>
            <a:ext cx="7498079" cy="402336"/>
          </a:xfrm>
          <a:prstGeom prst="rect">
            <a:avLst/>
          </a:prstGeom>
          <a:noFill/>
        </p:spPr>
        <p:txBody>
          <a:bodyPr wrap="none">
            <a:spAutoFit/>
          </a:bodyPr>
          <a:lstStyle/>
          <a:p>
            <a:r>
              <a:rPr sz="2500" b="1">
                <a:solidFill>
                  <a:srgbClr val="102235"/>
                </a:solidFill>
                <a:latin typeface="Aptos Display"/>
              </a:rPr>
              <a:t>Selected literature and research gap</a:t>
            </a:r>
          </a:p>
        </p:txBody>
      </p:sp>
      <p:sp>
        <p:nvSpPr>
          <p:cNvPr id="5" name="TextBox 4"/>
          <p:cNvSpPr txBox="1"/>
          <p:nvPr/>
        </p:nvSpPr>
        <p:spPr>
          <a:xfrm>
            <a:off x="8503920" y="493776"/>
            <a:ext cx="3108960" cy="365760"/>
          </a:xfrm>
          <a:prstGeom prst="rect">
            <a:avLst/>
          </a:prstGeom>
          <a:noFill/>
        </p:spPr>
        <p:txBody>
          <a:bodyPr wrap="none">
            <a:spAutoFit/>
          </a:bodyPr>
          <a:lstStyle/>
          <a:p>
            <a:pPr algn="r"/>
            <a:r>
              <a:rPr sz="850" i="1">
                <a:solidFill>
                  <a:srgbClr val="5F6E7C"/>
                </a:solidFill>
                <a:latin typeface="Aptos"/>
              </a:rPr>
              <a:t>Adapted from dissertation Table 2.1</a:t>
            </a:r>
          </a:p>
        </p:txBody>
      </p:sp>
      <p:graphicFrame>
        <p:nvGraphicFramePr>
          <p:cNvPr id="6" name="Table 5"/>
          <p:cNvGraphicFramePr>
            <a:graphicFrameLocks noGrp="1"/>
          </p:cNvGraphicFramePr>
          <p:nvPr/>
        </p:nvGraphicFramePr>
        <p:xfrm>
          <a:off x="566928" y="1143000"/>
          <a:ext cx="11064240" cy="393192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02920">
                <a:tc>
                  <a:txBody>
                    <a:bodyPr/>
                    <a:lstStyle/>
                    <a:p>
                      <a:pPr algn="l"/>
                      <a:r>
                        <a:rPr sz="1250" b="1">
                          <a:solidFill>
                            <a:srgbClr val="FFFFFF"/>
                          </a:solidFill>
                          <a:latin typeface="Aptos"/>
                        </a:rPr>
                        <a:t>Study</a:t>
                      </a:r>
                    </a:p>
                  </a:txBody>
                  <a:tcPr marL="73152" marR="73152">
                    <a:solidFill>
                      <a:srgbClr val="00436F"/>
                    </a:solidFill>
                  </a:tcPr>
                </a:tc>
                <a:tc>
                  <a:txBody>
                    <a:bodyPr/>
                    <a:lstStyle/>
                    <a:p>
                      <a:pPr algn="l"/>
                      <a:r>
                        <a:rPr sz="1250" b="1">
                          <a:solidFill>
                            <a:srgbClr val="FFFFFF"/>
                          </a:solidFill>
                          <a:latin typeface="Aptos"/>
                        </a:rPr>
                        <a:t>Relevant evidence</a:t>
                      </a:r>
                    </a:p>
                  </a:txBody>
                  <a:tcPr marL="73152" marR="73152">
                    <a:solidFill>
                      <a:srgbClr val="00436F"/>
                    </a:solidFill>
                  </a:tcPr>
                </a:tc>
                <a:tc>
                  <a:txBody>
                    <a:bodyPr/>
                    <a:lstStyle/>
                    <a:p>
                      <a:pPr algn="l"/>
                      <a:r>
                        <a:rPr sz="1250" b="1">
                          <a:solidFill>
                            <a:srgbClr val="FFFFFF"/>
                          </a:solidFill>
                          <a:latin typeface="Aptos"/>
                        </a:rPr>
                        <a:t>Limit on transfer</a:t>
                      </a:r>
                    </a:p>
                  </a:txBody>
                  <a:tcPr marL="73152" marR="73152">
                    <a:solidFill>
                      <a:srgbClr val="00436F"/>
                    </a:solidFill>
                  </a:tcPr>
                </a:tc>
                <a:extLst>
                  <a:ext uri="{0D108BD9-81ED-4DB2-BD59-A6C34878D82A}">
                    <a16:rowId xmlns:a16="http://schemas.microsoft.com/office/drawing/2014/main" val="10000"/>
                  </a:ext>
                </a:extLst>
              </a:tr>
              <a:tr h="1143000">
                <a:tc>
                  <a:txBody>
                    <a:bodyPr/>
                    <a:lstStyle/>
                    <a:p>
                      <a:pPr algn="l"/>
                      <a:r>
                        <a:rPr sz="1150" b="1">
                          <a:solidFill>
                            <a:srgbClr val="005992"/>
                          </a:solidFill>
                          <a:latin typeface="Aptos"/>
                        </a:rPr>
                        <a:t>Yildirim et al. (2018)</a:t>
                      </a:r>
                    </a:p>
                  </a:txBody>
                  <a:tcPr marL="73152" marR="73152">
                    <a:solidFill>
                      <a:srgbClr val="FFFFFF"/>
                    </a:solidFill>
                  </a:tcPr>
                </a:tc>
                <a:tc>
                  <a:txBody>
                    <a:bodyPr/>
                    <a:lstStyle/>
                    <a:p>
                      <a:pPr algn="l"/>
                      <a:r>
                        <a:rPr sz="1150" b="0">
                          <a:solidFill>
                            <a:srgbClr val="1F2D3D"/>
                          </a:solidFill>
                          <a:latin typeface="Aptos"/>
                        </a:rPr>
                        <a:t>FPGA-based online power-quality monitoring using continuously acquired voltage and current signals.</a:t>
                      </a:r>
                    </a:p>
                  </a:txBody>
                  <a:tcPr marL="73152" marR="73152">
                    <a:solidFill>
                      <a:srgbClr val="FFFFFF"/>
                    </a:solidFill>
                  </a:tcPr>
                </a:tc>
                <a:tc>
                  <a:txBody>
                    <a:bodyPr/>
                    <a:lstStyle/>
                    <a:p>
                      <a:pPr algn="l"/>
                      <a:r>
                        <a:rPr sz="1150" b="0">
                          <a:solidFill>
                            <a:srgbClr val="1F2D3D"/>
                          </a:solidFill>
                          <a:latin typeface="Aptos"/>
                        </a:rPr>
                        <a:t>Different sensing hardware, network conditions and communication architecture.</a:t>
                      </a:r>
                    </a:p>
                  </a:txBody>
                  <a:tcPr marL="73152" marR="73152">
                    <a:solidFill>
                      <a:srgbClr val="FFFFFF"/>
                    </a:solidFill>
                  </a:tcPr>
                </a:tc>
                <a:extLst>
                  <a:ext uri="{0D108BD9-81ED-4DB2-BD59-A6C34878D82A}">
                    <a16:rowId xmlns:a16="http://schemas.microsoft.com/office/drawing/2014/main" val="10001"/>
                  </a:ext>
                </a:extLst>
              </a:tr>
              <a:tr h="1143000">
                <a:tc>
                  <a:txBody>
                    <a:bodyPr/>
                    <a:lstStyle/>
                    <a:p>
                      <a:pPr algn="l"/>
                      <a:r>
                        <a:rPr sz="1150" b="1">
                          <a:solidFill>
                            <a:srgbClr val="005992"/>
                          </a:solidFill>
                          <a:latin typeface="Aptos"/>
                        </a:rPr>
                        <a:t>De Oro Arenas et al. (2021)</a:t>
                      </a:r>
                    </a:p>
                  </a:txBody>
                  <a:tcPr marL="73152" marR="73152">
                    <a:solidFill>
                      <a:srgbClr val="EBF4FA"/>
                    </a:solidFill>
                  </a:tcPr>
                </a:tc>
                <a:tc>
                  <a:txBody>
                    <a:bodyPr/>
                    <a:lstStyle/>
                    <a:p>
                      <a:pPr algn="l"/>
                      <a:r>
                        <a:rPr sz="1150" b="0">
                          <a:solidFill>
                            <a:srgbClr val="1F2D3D"/>
                          </a:solidFill>
                          <a:latin typeface="Aptos"/>
                        </a:rPr>
                        <a:t>FPGA smart-energy meter with analogue acquisition, power-quantity calculation, Goertzel harmonics and calibration.</a:t>
                      </a:r>
                    </a:p>
                  </a:txBody>
                  <a:tcPr marL="73152" marR="73152">
                    <a:solidFill>
                      <a:srgbClr val="EBF4FA"/>
                    </a:solidFill>
                  </a:tcPr>
                </a:tc>
                <a:tc>
                  <a:txBody>
                    <a:bodyPr/>
                    <a:lstStyle/>
                    <a:p>
                      <a:pPr algn="l"/>
                      <a:r>
                        <a:rPr sz="1150" b="0">
                          <a:solidFill>
                            <a:srgbClr val="1F2D3D"/>
                          </a:solidFill>
                          <a:latin typeface="Aptos"/>
                        </a:rPr>
                        <a:t>Three-phase system with different sensors and ADC arrangement.</a:t>
                      </a:r>
                    </a:p>
                  </a:txBody>
                  <a:tcPr marL="73152" marR="73152">
                    <a:solidFill>
                      <a:srgbClr val="EBF4FA"/>
                    </a:solidFill>
                  </a:tcPr>
                </a:tc>
                <a:extLst>
                  <a:ext uri="{0D108BD9-81ED-4DB2-BD59-A6C34878D82A}">
                    <a16:rowId xmlns:a16="http://schemas.microsoft.com/office/drawing/2014/main" val="10002"/>
                  </a:ext>
                </a:extLst>
              </a:tr>
              <a:tr h="1143000">
                <a:tc>
                  <a:txBody>
                    <a:bodyPr/>
                    <a:lstStyle/>
                    <a:p>
                      <a:pPr algn="l"/>
                      <a:r>
                        <a:rPr sz="1150" b="1">
                          <a:solidFill>
                            <a:srgbClr val="005992"/>
                          </a:solidFill>
                          <a:latin typeface="Aptos"/>
                        </a:rPr>
                        <a:t>Maśnicki et al. (2025)</a:t>
                      </a:r>
                    </a:p>
                  </a:txBody>
                  <a:tcPr marL="73152" marR="73152">
                    <a:solidFill>
                      <a:srgbClr val="FFFFFF"/>
                    </a:solidFill>
                  </a:tcPr>
                </a:tc>
                <a:tc>
                  <a:txBody>
                    <a:bodyPr/>
                    <a:lstStyle/>
                    <a:p>
                      <a:pPr algn="l"/>
                      <a:r>
                        <a:rPr sz="1150" b="0">
                          <a:solidFill>
                            <a:srgbClr val="1F2D3D"/>
                          </a:solidFill>
                          <a:latin typeface="Aptos"/>
                        </a:rPr>
                        <a:t>Review stressing modelling, development and validation of the complete measuring channel for power-quality assessment.</a:t>
                      </a:r>
                    </a:p>
                  </a:txBody>
                  <a:tcPr marL="73152" marR="73152">
                    <a:solidFill>
                      <a:srgbClr val="FFFFFF"/>
                    </a:solidFill>
                  </a:tcPr>
                </a:tc>
                <a:tc>
                  <a:txBody>
                    <a:bodyPr/>
                    <a:lstStyle/>
                    <a:p>
                      <a:pPr algn="l"/>
                      <a:r>
                        <a:rPr sz="1150" b="0">
                          <a:solidFill>
                            <a:srgbClr val="1F2D3D"/>
                          </a:solidFill>
                          <a:latin typeface="Aptos"/>
                        </a:rPr>
                        <a:t>General measuring-channel framework; not the exact AMC3330 / ACS724 / ADS8320 chain.</a:t>
                      </a:r>
                    </a:p>
                  </a:txBody>
                  <a:tcPr marL="73152" marR="73152">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77240" y="5321808"/>
            <a:ext cx="10652760" cy="658368"/>
          </a:xfrm>
          <a:prstGeom prst="roundRect">
            <a:avLst/>
          </a:prstGeom>
          <a:solidFill>
            <a:srgbClr val="E8F6EF"/>
          </a:solidFill>
          <a:ln w="12700">
            <a:solidFill>
              <a:srgbClr val="B2E2CB"/>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1400" b="1">
                <a:solidFill>
                  <a:srgbClr val="007B5B"/>
                </a:solidFill>
                <a:latin typeface="Aptos"/>
              </a:rPr>
              <a:t>Research gap addressed: complete measurement-chain validation and uncertainty, not only FPGA algorithm demonstration.</a:t>
            </a:r>
          </a:p>
        </p:txBody>
      </p:sp>
      <p:sp>
        <p:nvSpPr>
          <p:cNvPr id="8" name="TextBox 7"/>
          <p:cNvSpPr txBox="1"/>
          <p:nvPr/>
        </p:nvSpPr>
        <p:spPr>
          <a:xfrm>
            <a:off x="502920" y="6519672"/>
            <a:ext cx="11155680" cy="164592"/>
          </a:xfrm>
          <a:prstGeom prst="rect">
            <a:avLst/>
          </a:prstGeom>
          <a:noFill/>
        </p:spPr>
        <p:txBody>
          <a:bodyPr wrap="none">
            <a:spAutoFit/>
          </a:bodyPr>
          <a:lstStyle/>
          <a:p>
            <a:r>
              <a:rPr sz="650">
                <a:solidFill>
                  <a:srgbClr val="5F6E7C"/>
                </a:solidFill>
                <a:latin typeface="Aptos"/>
              </a:rPr>
              <a:t>FPGA-Based Power Quality Monitoring</a:t>
            </a:r>
            <a:r>
              <a:t>                                                                                                                        </a:t>
            </a:r>
            <a:r>
              <a:rPr sz="650">
                <a:solidFill>
                  <a:srgbClr val="5F6E7C"/>
                </a:solidFill>
                <a:latin typeface="Aptos"/>
              </a:rPr>
              <a:t>Hakeem Issah · MSc Electronic/Electrical Engineering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0040"/>
            <a:ext cx="3657600" cy="201168"/>
          </a:xfrm>
          <a:prstGeom prst="rect">
            <a:avLst/>
          </a:prstGeom>
          <a:noFill/>
          <a:ln/>
        </p:spPr>
        <p:txBody>
          <a:bodyPr wrap="square" lIns="0" tIns="0" rIns="0" bIns="0" rtlCol="0" anchor="ctr"/>
          <a:lstStyle/>
          <a:p>
            <a:pPr marL="0" indent="0">
              <a:buNone/>
            </a:pPr>
            <a:r>
              <a:rPr lang="en-US" sz="1000" b="1" kern="0" spc="110" dirty="0">
                <a:solidFill>
                  <a:srgbClr val="2D78B7"/>
                </a:solidFill>
              </a:rPr>
              <a:t>WHAT I BUILT</a:t>
            </a:r>
            <a:endParaRPr lang="en-US" sz="1000" dirty="0"/>
          </a:p>
        </p:txBody>
      </p:sp>
      <p:sp>
        <p:nvSpPr>
          <p:cNvPr id="3" name="Text 1"/>
          <p:cNvSpPr/>
          <p:nvPr/>
        </p:nvSpPr>
        <p:spPr>
          <a:xfrm>
            <a:off x="566928" y="585216"/>
            <a:ext cx="10972800" cy="502920"/>
          </a:xfrm>
          <a:prstGeom prst="rect">
            <a:avLst/>
          </a:prstGeom>
          <a:noFill/>
          <a:ln/>
        </p:spPr>
        <p:txBody>
          <a:bodyPr wrap="square" lIns="0" tIns="0" rIns="0" bIns="0" rtlCol="0" anchor="ctr"/>
          <a:lstStyle/>
          <a:p>
            <a:pPr marL="0" indent="0">
              <a:buNone/>
            </a:pPr>
            <a:r>
              <a:rPr lang="en-US" sz="2600" b="1" dirty="0">
                <a:solidFill>
                  <a:srgbClr val="172033"/>
                </a:solidFill>
              </a:rPr>
              <a:t>System architecture</a:t>
            </a:r>
            <a:endParaRPr lang="en-US" sz="2600" dirty="0"/>
          </a:p>
        </p:txBody>
      </p:sp>
      <p:sp>
        <p:nvSpPr>
          <p:cNvPr id="4" name="Text 2"/>
          <p:cNvSpPr/>
          <p:nvPr/>
        </p:nvSpPr>
        <p:spPr>
          <a:xfrm>
            <a:off x="658368" y="1069848"/>
            <a:ext cx="6583680" cy="256032"/>
          </a:xfrm>
          <a:prstGeom prst="rect">
            <a:avLst/>
          </a:prstGeom>
          <a:noFill/>
          <a:ln/>
        </p:spPr>
        <p:txBody>
          <a:bodyPr wrap="square" lIns="0" tIns="0" rIns="0" bIns="0" rtlCol="0" anchor="ctr"/>
          <a:lstStyle/>
          <a:p>
            <a:pPr marL="0" indent="0">
              <a:buNone/>
            </a:pPr>
            <a:r>
              <a:rPr lang="en-US" sz="1250" dirty="0">
                <a:solidFill>
                  <a:srgbClr val="5F6B7A"/>
                </a:solidFill>
              </a:rPr>
              <a:t>Separate physical test sources feed a common hardware–FPGA–GUI chain.</a:t>
            </a:r>
            <a:endParaRPr lang="en-US" sz="1250" dirty="0"/>
          </a:p>
        </p:txBody>
      </p:sp>
      <p:sp>
        <p:nvSpPr>
          <p:cNvPr id="5" name="Shape 3"/>
          <p:cNvSpPr/>
          <p:nvPr/>
        </p:nvSpPr>
        <p:spPr>
          <a:xfrm>
            <a:off x="749808" y="1847088"/>
            <a:ext cx="1389888" cy="804672"/>
          </a:xfrm>
          <a:prstGeom prst="roundRect">
            <a:avLst/>
          </a:prstGeom>
          <a:solidFill>
            <a:srgbClr val="EAF3FA"/>
          </a:solidFill>
          <a:ln w="12700">
            <a:solidFill>
              <a:srgbClr val="2D78B7"/>
            </a:solidFill>
            <a:prstDash val="solid"/>
          </a:ln>
        </p:spPr>
        <p:txBody>
          <a:bodyPr/>
          <a:lstStyle/>
          <a:p>
            <a:endParaRPr/>
          </a:p>
        </p:txBody>
      </p:sp>
      <p:sp>
        <p:nvSpPr>
          <p:cNvPr id="6" name="Text 4"/>
          <p:cNvSpPr/>
          <p:nvPr/>
        </p:nvSpPr>
        <p:spPr>
          <a:xfrm>
            <a:off x="822960" y="1984248"/>
            <a:ext cx="1243584"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Signal generator</a:t>
            </a:r>
            <a:endParaRPr lang="en-US" sz="1220" dirty="0"/>
          </a:p>
        </p:txBody>
      </p:sp>
      <p:sp>
        <p:nvSpPr>
          <p:cNvPr id="7" name="Text 5"/>
          <p:cNvSpPr/>
          <p:nvPr/>
        </p:nvSpPr>
        <p:spPr>
          <a:xfrm>
            <a:off x="822960" y="2304288"/>
            <a:ext cx="1243584"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voltage test</a:t>
            </a:r>
            <a:endParaRPr lang="en-US" sz="900" dirty="0"/>
          </a:p>
        </p:txBody>
      </p:sp>
      <p:sp>
        <p:nvSpPr>
          <p:cNvPr id="8" name="Shape 6"/>
          <p:cNvSpPr/>
          <p:nvPr/>
        </p:nvSpPr>
        <p:spPr>
          <a:xfrm>
            <a:off x="2487168" y="1847088"/>
            <a:ext cx="1591056" cy="804672"/>
          </a:xfrm>
          <a:prstGeom prst="roundRect">
            <a:avLst/>
          </a:prstGeom>
          <a:solidFill>
            <a:srgbClr val="FFFFFF"/>
          </a:solidFill>
          <a:ln w="12700">
            <a:solidFill>
              <a:srgbClr val="D9E2EC"/>
            </a:solidFill>
            <a:prstDash val="solid"/>
          </a:ln>
        </p:spPr>
        <p:txBody>
          <a:bodyPr/>
          <a:lstStyle/>
          <a:p>
            <a:endParaRPr/>
          </a:p>
        </p:txBody>
      </p:sp>
      <p:sp>
        <p:nvSpPr>
          <p:cNvPr id="9" name="Text 7"/>
          <p:cNvSpPr/>
          <p:nvPr/>
        </p:nvSpPr>
        <p:spPr>
          <a:xfrm>
            <a:off x="2560320" y="1984248"/>
            <a:ext cx="1444752"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Voltage sensing</a:t>
            </a:r>
            <a:endParaRPr lang="en-US" sz="1220" dirty="0"/>
          </a:p>
        </p:txBody>
      </p:sp>
      <p:sp>
        <p:nvSpPr>
          <p:cNvPr id="10" name="Text 8"/>
          <p:cNvSpPr/>
          <p:nvPr/>
        </p:nvSpPr>
        <p:spPr>
          <a:xfrm>
            <a:off x="2560320" y="2304288"/>
            <a:ext cx="1444752"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divider + AMC3330</a:t>
            </a:r>
            <a:endParaRPr lang="en-US" sz="900" dirty="0"/>
          </a:p>
        </p:txBody>
      </p:sp>
      <p:sp>
        <p:nvSpPr>
          <p:cNvPr id="11" name="Shape 9"/>
          <p:cNvSpPr/>
          <p:nvPr/>
        </p:nvSpPr>
        <p:spPr>
          <a:xfrm>
            <a:off x="4443984" y="1847088"/>
            <a:ext cx="1609344" cy="804672"/>
          </a:xfrm>
          <a:prstGeom prst="roundRect">
            <a:avLst/>
          </a:prstGeom>
          <a:solidFill>
            <a:srgbClr val="FFFFFF"/>
          </a:solidFill>
          <a:ln w="12700">
            <a:solidFill>
              <a:srgbClr val="D9E2EC"/>
            </a:solidFill>
            <a:prstDash val="solid"/>
          </a:ln>
        </p:spPr>
        <p:txBody>
          <a:bodyPr/>
          <a:lstStyle/>
          <a:p>
            <a:endParaRPr/>
          </a:p>
        </p:txBody>
      </p:sp>
      <p:sp>
        <p:nvSpPr>
          <p:cNvPr id="12" name="Text 10"/>
          <p:cNvSpPr/>
          <p:nvPr/>
        </p:nvSpPr>
        <p:spPr>
          <a:xfrm>
            <a:off x="4517136" y="1984248"/>
            <a:ext cx="1463040"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Conditioning</a:t>
            </a:r>
            <a:endParaRPr lang="en-US" sz="1220" dirty="0"/>
          </a:p>
        </p:txBody>
      </p:sp>
      <p:sp>
        <p:nvSpPr>
          <p:cNvPr id="13" name="Text 11"/>
          <p:cNvSpPr/>
          <p:nvPr/>
        </p:nvSpPr>
        <p:spPr>
          <a:xfrm>
            <a:off x="4517136" y="2304288"/>
            <a:ext cx="1463040"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OPA2188 + filter</a:t>
            </a:r>
            <a:endParaRPr lang="en-US" sz="900" dirty="0"/>
          </a:p>
        </p:txBody>
      </p:sp>
      <p:sp>
        <p:nvSpPr>
          <p:cNvPr id="14" name="Shape 12"/>
          <p:cNvSpPr/>
          <p:nvPr/>
        </p:nvSpPr>
        <p:spPr>
          <a:xfrm>
            <a:off x="6428232" y="1847088"/>
            <a:ext cx="1389888" cy="804672"/>
          </a:xfrm>
          <a:prstGeom prst="roundRect">
            <a:avLst/>
          </a:prstGeom>
          <a:solidFill>
            <a:srgbClr val="EAF3FA"/>
          </a:solidFill>
          <a:ln w="12700">
            <a:solidFill>
              <a:srgbClr val="2D78B7"/>
            </a:solidFill>
            <a:prstDash val="solid"/>
          </a:ln>
        </p:spPr>
        <p:txBody>
          <a:bodyPr/>
          <a:lstStyle/>
          <a:p>
            <a:endParaRPr/>
          </a:p>
        </p:txBody>
      </p:sp>
      <p:sp>
        <p:nvSpPr>
          <p:cNvPr id="15" name="Text 13"/>
          <p:cNvSpPr/>
          <p:nvPr/>
        </p:nvSpPr>
        <p:spPr>
          <a:xfrm>
            <a:off x="6501384" y="1984248"/>
            <a:ext cx="1243584"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ADS8320 V</a:t>
            </a:r>
            <a:endParaRPr lang="en-US" sz="1220" dirty="0"/>
          </a:p>
        </p:txBody>
      </p:sp>
      <p:sp>
        <p:nvSpPr>
          <p:cNvPr id="16" name="Text 14"/>
          <p:cNvSpPr/>
          <p:nvPr/>
        </p:nvSpPr>
        <p:spPr>
          <a:xfrm>
            <a:off x="6501384" y="2304288"/>
            <a:ext cx="1243584"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16-bit SAR</a:t>
            </a:r>
            <a:endParaRPr lang="en-US" sz="900" dirty="0"/>
          </a:p>
        </p:txBody>
      </p:sp>
      <p:sp>
        <p:nvSpPr>
          <p:cNvPr id="17" name="Shape 15"/>
          <p:cNvSpPr/>
          <p:nvPr/>
        </p:nvSpPr>
        <p:spPr>
          <a:xfrm>
            <a:off x="749808" y="3776472"/>
            <a:ext cx="1389888" cy="804672"/>
          </a:xfrm>
          <a:prstGeom prst="roundRect">
            <a:avLst/>
          </a:prstGeom>
          <a:solidFill>
            <a:srgbClr val="FFF3E5"/>
          </a:solidFill>
          <a:ln w="12700">
            <a:solidFill>
              <a:srgbClr val="E98B2A"/>
            </a:solidFill>
            <a:prstDash val="solid"/>
          </a:ln>
        </p:spPr>
        <p:txBody>
          <a:bodyPr/>
          <a:lstStyle/>
          <a:p>
            <a:endParaRPr/>
          </a:p>
        </p:txBody>
      </p:sp>
      <p:sp>
        <p:nvSpPr>
          <p:cNvPr id="18" name="Text 16"/>
          <p:cNvSpPr/>
          <p:nvPr/>
        </p:nvSpPr>
        <p:spPr>
          <a:xfrm>
            <a:off x="822960" y="3913632"/>
            <a:ext cx="1243584"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DC supply + load</a:t>
            </a:r>
            <a:endParaRPr lang="en-US" sz="1220" dirty="0"/>
          </a:p>
        </p:txBody>
      </p:sp>
      <p:sp>
        <p:nvSpPr>
          <p:cNvPr id="19" name="Text 17"/>
          <p:cNvSpPr/>
          <p:nvPr/>
        </p:nvSpPr>
        <p:spPr>
          <a:xfrm>
            <a:off x="822960" y="4233672"/>
            <a:ext cx="1243584"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current test</a:t>
            </a:r>
            <a:endParaRPr lang="en-US" sz="900" dirty="0"/>
          </a:p>
        </p:txBody>
      </p:sp>
      <p:sp>
        <p:nvSpPr>
          <p:cNvPr id="20" name="Shape 18"/>
          <p:cNvSpPr/>
          <p:nvPr/>
        </p:nvSpPr>
        <p:spPr>
          <a:xfrm>
            <a:off x="2487168" y="3776472"/>
            <a:ext cx="1591056" cy="804672"/>
          </a:xfrm>
          <a:prstGeom prst="roundRect">
            <a:avLst/>
          </a:prstGeom>
          <a:solidFill>
            <a:srgbClr val="FFFFFF"/>
          </a:solidFill>
          <a:ln w="12700">
            <a:solidFill>
              <a:srgbClr val="D9E2EC"/>
            </a:solidFill>
            <a:prstDash val="solid"/>
          </a:ln>
        </p:spPr>
        <p:txBody>
          <a:bodyPr/>
          <a:lstStyle/>
          <a:p>
            <a:endParaRPr/>
          </a:p>
        </p:txBody>
      </p:sp>
      <p:sp>
        <p:nvSpPr>
          <p:cNvPr id="21" name="Text 19"/>
          <p:cNvSpPr/>
          <p:nvPr/>
        </p:nvSpPr>
        <p:spPr>
          <a:xfrm>
            <a:off x="2560320" y="3913632"/>
            <a:ext cx="1444752"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Current sensing</a:t>
            </a:r>
            <a:endParaRPr lang="en-US" sz="1220" dirty="0"/>
          </a:p>
        </p:txBody>
      </p:sp>
      <p:sp>
        <p:nvSpPr>
          <p:cNvPr id="22" name="Text 20"/>
          <p:cNvSpPr/>
          <p:nvPr/>
        </p:nvSpPr>
        <p:spPr>
          <a:xfrm>
            <a:off x="2560320" y="4233672"/>
            <a:ext cx="1444752"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ACS724 Hall sensor</a:t>
            </a:r>
            <a:endParaRPr lang="en-US" sz="900" dirty="0"/>
          </a:p>
        </p:txBody>
      </p:sp>
      <p:sp>
        <p:nvSpPr>
          <p:cNvPr id="23" name="Shape 21"/>
          <p:cNvSpPr/>
          <p:nvPr/>
        </p:nvSpPr>
        <p:spPr>
          <a:xfrm>
            <a:off x="4443984" y="3776472"/>
            <a:ext cx="1609344" cy="804672"/>
          </a:xfrm>
          <a:prstGeom prst="roundRect">
            <a:avLst/>
          </a:prstGeom>
          <a:solidFill>
            <a:srgbClr val="FFFFFF"/>
          </a:solidFill>
          <a:ln w="12700">
            <a:solidFill>
              <a:srgbClr val="D9E2EC"/>
            </a:solidFill>
            <a:prstDash val="solid"/>
          </a:ln>
        </p:spPr>
        <p:txBody>
          <a:bodyPr/>
          <a:lstStyle/>
          <a:p>
            <a:endParaRPr/>
          </a:p>
        </p:txBody>
      </p:sp>
      <p:sp>
        <p:nvSpPr>
          <p:cNvPr id="24" name="Text 22"/>
          <p:cNvSpPr/>
          <p:nvPr/>
        </p:nvSpPr>
        <p:spPr>
          <a:xfrm>
            <a:off x="4517136" y="3913632"/>
            <a:ext cx="1463040"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Conditioning</a:t>
            </a:r>
            <a:endParaRPr lang="en-US" sz="1220" dirty="0"/>
          </a:p>
        </p:txBody>
      </p:sp>
      <p:sp>
        <p:nvSpPr>
          <p:cNvPr id="25" name="Text 23"/>
          <p:cNvSpPr/>
          <p:nvPr/>
        </p:nvSpPr>
        <p:spPr>
          <a:xfrm>
            <a:off x="4517136" y="4233672"/>
            <a:ext cx="1463040"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OPA2188 + filter</a:t>
            </a:r>
            <a:endParaRPr lang="en-US" sz="900" dirty="0"/>
          </a:p>
        </p:txBody>
      </p:sp>
      <p:sp>
        <p:nvSpPr>
          <p:cNvPr id="26" name="Shape 24"/>
          <p:cNvSpPr/>
          <p:nvPr/>
        </p:nvSpPr>
        <p:spPr>
          <a:xfrm>
            <a:off x="6428232" y="3776472"/>
            <a:ext cx="1389888" cy="804672"/>
          </a:xfrm>
          <a:prstGeom prst="roundRect">
            <a:avLst/>
          </a:prstGeom>
          <a:solidFill>
            <a:srgbClr val="EAF3FA"/>
          </a:solidFill>
          <a:ln w="12700">
            <a:solidFill>
              <a:srgbClr val="2D78B7"/>
            </a:solidFill>
            <a:prstDash val="solid"/>
          </a:ln>
        </p:spPr>
        <p:txBody>
          <a:bodyPr/>
          <a:lstStyle/>
          <a:p>
            <a:endParaRPr/>
          </a:p>
        </p:txBody>
      </p:sp>
      <p:sp>
        <p:nvSpPr>
          <p:cNvPr id="27" name="Text 25"/>
          <p:cNvSpPr/>
          <p:nvPr/>
        </p:nvSpPr>
        <p:spPr>
          <a:xfrm>
            <a:off x="6501384" y="3913632"/>
            <a:ext cx="1243584"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ADS8320 I</a:t>
            </a:r>
            <a:endParaRPr lang="en-US" sz="1220" dirty="0"/>
          </a:p>
        </p:txBody>
      </p:sp>
      <p:sp>
        <p:nvSpPr>
          <p:cNvPr id="28" name="Text 26"/>
          <p:cNvSpPr/>
          <p:nvPr/>
        </p:nvSpPr>
        <p:spPr>
          <a:xfrm>
            <a:off x="6501384" y="4233672"/>
            <a:ext cx="1243584"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16-bit SAR</a:t>
            </a:r>
            <a:endParaRPr lang="en-US" sz="900" dirty="0"/>
          </a:p>
        </p:txBody>
      </p:sp>
      <p:sp>
        <p:nvSpPr>
          <p:cNvPr id="29" name="Shape 27"/>
          <p:cNvSpPr/>
          <p:nvPr/>
        </p:nvSpPr>
        <p:spPr>
          <a:xfrm>
            <a:off x="8503920" y="2688336"/>
            <a:ext cx="1481328" cy="960120"/>
          </a:xfrm>
          <a:prstGeom prst="roundRect">
            <a:avLst/>
          </a:prstGeom>
          <a:solidFill>
            <a:srgbClr val="003B70"/>
          </a:solidFill>
          <a:ln w="12700">
            <a:solidFill>
              <a:srgbClr val="003B70"/>
            </a:solidFill>
            <a:prstDash val="solid"/>
          </a:ln>
        </p:spPr>
        <p:txBody>
          <a:bodyPr/>
          <a:lstStyle/>
          <a:p>
            <a:endParaRPr/>
          </a:p>
        </p:txBody>
      </p:sp>
      <p:sp>
        <p:nvSpPr>
          <p:cNvPr id="30" name="Text 28"/>
          <p:cNvSpPr/>
          <p:nvPr/>
        </p:nvSpPr>
        <p:spPr>
          <a:xfrm>
            <a:off x="8577072" y="2825496"/>
            <a:ext cx="1335024"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Nexys A7</a:t>
            </a:r>
            <a:endParaRPr lang="en-US" sz="1220" dirty="0"/>
          </a:p>
        </p:txBody>
      </p:sp>
      <p:sp>
        <p:nvSpPr>
          <p:cNvPr id="31" name="Text 29"/>
          <p:cNvSpPr/>
          <p:nvPr/>
        </p:nvSpPr>
        <p:spPr>
          <a:xfrm>
            <a:off x="8577072" y="3145536"/>
            <a:ext cx="1335024"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PQ processing</a:t>
            </a:r>
            <a:endParaRPr lang="en-US" sz="900" dirty="0"/>
          </a:p>
        </p:txBody>
      </p:sp>
      <p:sp>
        <p:nvSpPr>
          <p:cNvPr id="32" name="Shape 30"/>
          <p:cNvSpPr/>
          <p:nvPr/>
        </p:nvSpPr>
        <p:spPr>
          <a:xfrm>
            <a:off x="10378440" y="2688336"/>
            <a:ext cx="1152144" cy="960120"/>
          </a:xfrm>
          <a:prstGeom prst="roundRect">
            <a:avLst/>
          </a:prstGeom>
          <a:solidFill>
            <a:srgbClr val="EAF6F0"/>
          </a:solidFill>
          <a:ln w="12700">
            <a:solidFill>
              <a:srgbClr val="26855B"/>
            </a:solidFill>
            <a:prstDash val="solid"/>
          </a:ln>
        </p:spPr>
        <p:txBody>
          <a:bodyPr/>
          <a:lstStyle/>
          <a:p>
            <a:endParaRPr/>
          </a:p>
        </p:txBody>
      </p:sp>
      <p:sp>
        <p:nvSpPr>
          <p:cNvPr id="33" name="Text 31"/>
          <p:cNvSpPr/>
          <p:nvPr/>
        </p:nvSpPr>
        <p:spPr>
          <a:xfrm>
            <a:off x="10451592" y="2825496"/>
            <a:ext cx="1005840" cy="274320"/>
          </a:xfrm>
          <a:prstGeom prst="rect">
            <a:avLst/>
          </a:prstGeom>
          <a:noFill/>
          <a:ln/>
        </p:spPr>
        <p:txBody>
          <a:bodyPr wrap="square" lIns="0" tIns="0" rIns="0" bIns="0" rtlCol="0" anchor="ctr">
            <a:normAutofit/>
          </a:bodyPr>
          <a:lstStyle/>
          <a:p>
            <a:pPr marL="0" indent="0" algn="ctr">
              <a:buNone/>
            </a:pPr>
            <a:r>
              <a:rPr lang="en-US" sz="1220" b="1" dirty="0">
                <a:solidFill>
                  <a:srgbClr val="172033"/>
                </a:solidFill>
              </a:rPr>
              <a:t>Python GUI</a:t>
            </a:r>
            <a:endParaRPr lang="en-US" sz="1220" dirty="0"/>
          </a:p>
        </p:txBody>
      </p:sp>
      <p:sp>
        <p:nvSpPr>
          <p:cNvPr id="34" name="Text 32"/>
          <p:cNvSpPr/>
          <p:nvPr/>
        </p:nvSpPr>
        <p:spPr>
          <a:xfrm>
            <a:off x="10451592" y="3145536"/>
            <a:ext cx="1005840" cy="256032"/>
          </a:xfrm>
          <a:prstGeom prst="rect">
            <a:avLst/>
          </a:prstGeom>
          <a:noFill/>
          <a:ln/>
        </p:spPr>
        <p:txBody>
          <a:bodyPr wrap="square" lIns="0" tIns="0" rIns="0" bIns="0" rtlCol="0" anchor="ctr">
            <a:normAutofit/>
          </a:bodyPr>
          <a:lstStyle/>
          <a:p>
            <a:pPr marL="0" indent="0" algn="ctr">
              <a:buNone/>
            </a:pPr>
            <a:r>
              <a:rPr lang="en-US" sz="900" dirty="0">
                <a:solidFill>
                  <a:srgbClr val="5F6B7A"/>
                </a:solidFill>
              </a:rPr>
              <a:t>UART 115200</a:t>
            </a:r>
            <a:endParaRPr lang="en-US" sz="900" dirty="0"/>
          </a:p>
        </p:txBody>
      </p:sp>
      <p:sp>
        <p:nvSpPr>
          <p:cNvPr id="35" name="Shape 33"/>
          <p:cNvSpPr/>
          <p:nvPr/>
        </p:nvSpPr>
        <p:spPr>
          <a:xfrm>
            <a:off x="2139696" y="2249424"/>
            <a:ext cx="347472" cy="0"/>
          </a:xfrm>
          <a:prstGeom prst="line">
            <a:avLst/>
          </a:prstGeom>
          <a:noFill/>
          <a:ln w="12700">
            <a:solidFill>
              <a:srgbClr val="7691A7"/>
            </a:solidFill>
            <a:prstDash val="solid"/>
            <a:headEnd type="none"/>
            <a:tailEnd type="triangle"/>
          </a:ln>
        </p:spPr>
        <p:txBody>
          <a:bodyPr/>
          <a:lstStyle/>
          <a:p>
            <a:endParaRPr/>
          </a:p>
        </p:txBody>
      </p:sp>
      <p:sp>
        <p:nvSpPr>
          <p:cNvPr id="36" name="Shape 34"/>
          <p:cNvSpPr/>
          <p:nvPr/>
        </p:nvSpPr>
        <p:spPr>
          <a:xfrm>
            <a:off x="4078224" y="2249424"/>
            <a:ext cx="365760" cy="0"/>
          </a:xfrm>
          <a:prstGeom prst="line">
            <a:avLst/>
          </a:prstGeom>
          <a:noFill/>
          <a:ln w="12700">
            <a:solidFill>
              <a:srgbClr val="7691A7"/>
            </a:solidFill>
            <a:prstDash val="solid"/>
            <a:headEnd type="none"/>
            <a:tailEnd type="triangle"/>
          </a:ln>
        </p:spPr>
        <p:txBody>
          <a:bodyPr/>
          <a:lstStyle/>
          <a:p>
            <a:endParaRPr/>
          </a:p>
        </p:txBody>
      </p:sp>
      <p:sp>
        <p:nvSpPr>
          <p:cNvPr id="37" name="Shape 35"/>
          <p:cNvSpPr/>
          <p:nvPr/>
        </p:nvSpPr>
        <p:spPr>
          <a:xfrm>
            <a:off x="6053328" y="2249424"/>
            <a:ext cx="374904" cy="0"/>
          </a:xfrm>
          <a:prstGeom prst="line">
            <a:avLst/>
          </a:prstGeom>
          <a:noFill/>
          <a:ln w="12700">
            <a:solidFill>
              <a:srgbClr val="7691A7"/>
            </a:solidFill>
            <a:prstDash val="solid"/>
            <a:headEnd type="none"/>
            <a:tailEnd type="triangle"/>
          </a:ln>
        </p:spPr>
        <p:txBody>
          <a:bodyPr/>
          <a:lstStyle/>
          <a:p>
            <a:endParaRPr/>
          </a:p>
        </p:txBody>
      </p:sp>
      <p:sp>
        <p:nvSpPr>
          <p:cNvPr id="38" name="Shape 36"/>
          <p:cNvSpPr/>
          <p:nvPr/>
        </p:nvSpPr>
        <p:spPr>
          <a:xfrm>
            <a:off x="7818120" y="2249424"/>
            <a:ext cx="685800" cy="0"/>
          </a:xfrm>
          <a:prstGeom prst="line">
            <a:avLst/>
          </a:prstGeom>
          <a:noFill/>
          <a:ln w="12700">
            <a:solidFill>
              <a:srgbClr val="7691A7"/>
            </a:solidFill>
            <a:prstDash val="solid"/>
            <a:headEnd type="none"/>
            <a:tailEnd type="triangle"/>
          </a:ln>
        </p:spPr>
        <p:txBody>
          <a:bodyPr/>
          <a:lstStyle/>
          <a:p>
            <a:endParaRPr/>
          </a:p>
        </p:txBody>
      </p:sp>
      <p:sp>
        <p:nvSpPr>
          <p:cNvPr id="39" name="Shape 37"/>
          <p:cNvSpPr/>
          <p:nvPr/>
        </p:nvSpPr>
        <p:spPr>
          <a:xfrm>
            <a:off x="2139696" y="4178808"/>
            <a:ext cx="347472" cy="0"/>
          </a:xfrm>
          <a:prstGeom prst="line">
            <a:avLst/>
          </a:prstGeom>
          <a:noFill/>
          <a:ln w="12700">
            <a:solidFill>
              <a:srgbClr val="7691A7"/>
            </a:solidFill>
            <a:prstDash val="solid"/>
            <a:headEnd type="none"/>
            <a:tailEnd type="triangle"/>
          </a:ln>
        </p:spPr>
        <p:txBody>
          <a:bodyPr/>
          <a:lstStyle/>
          <a:p>
            <a:endParaRPr/>
          </a:p>
        </p:txBody>
      </p:sp>
      <p:sp>
        <p:nvSpPr>
          <p:cNvPr id="40" name="Shape 38"/>
          <p:cNvSpPr/>
          <p:nvPr/>
        </p:nvSpPr>
        <p:spPr>
          <a:xfrm>
            <a:off x="4078224" y="4178808"/>
            <a:ext cx="365760" cy="0"/>
          </a:xfrm>
          <a:prstGeom prst="line">
            <a:avLst/>
          </a:prstGeom>
          <a:noFill/>
          <a:ln w="12700">
            <a:solidFill>
              <a:srgbClr val="7691A7"/>
            </a:solidFill>
            <a:prstDash val="solid"/>
            <a:headEnd type="none"/>
            <a:tailEnd type="triangle"/>
          </a:ln>
        </p:spPr>
        <p:txBody>
          <a:bodyPr/>
          <a:lstStyle/>
          <a:p>
            <a:endParaRPr/>
          </a:p>
        </p:txBody>
      </p:sp>
      <p:sp>
        <p:nvSpPr>
          <p:cNvPr id="41" name="Shape 39"/>
          <p:cNvSpPr/>
          <p:nvPr/>
        </p:nvSpPr>
        <p:spPr>
          <a:xfrm>
            <a:off x="6053328" y="4178808"/>
            <a:ext cx="374904" cy="0"/>
          </a:xfrm>
          <a:prstGeom prst="line">
            <a:avLst/>
          </a:prstGeom>
          <a:noFill/>
          <a:ln w="12700">
            <a:solidFill>
              <a:srgbClr val="7691A7"/>
            </a:solidFill>
            <a:prstDash val="solid"/>
            <a:headEnd type="none"/>
            <a:tailEnd type="triangle"/>
          </a:ln>
        </p:spPr>
        <p:txBody>
          <a:bodyPr/>
          <a:lstStyle/>
          <a:p>
            <a:endParaRPr/>
          </a:p>
        </p:txBody>
      </p:sp>
      <p:sp>
        <p:nvSpPr>
          <p:cNvPr id="42" name="Shape 40"/>
          <p:cNvSpPr/>
          <p:nvPr/>
        </p:nvSpPr>
        <p:spPr>
          <a:xfrm>
            <a:off x="7818120" y="4178808"/>
            <a:ext cx="685800" cy="0"/>
          </a:xfrm>
          <a:prstGeom prst="line">
            <a:avLst/>
          </a:prstGeom>
          <a:noFill/>
          <a:ln w="12700">
            <a:solidFill>
              <a:srgbClr val="7691A7"/>
            </a:solidFill>
            <a:prstDash val="solid"/>
            <a:headEnd type="none"/>
            <a:tailEnd type="triangle"/>
          </a:ln>
        </p:spPr>
        <p:txBody>
          <a:bodyPr/>
          <a:lstStyle/>
          <a:p>
            <a:endParaRPr/>
          </a:p>
        </p:txBody>
      </p:sp>
      <p:sp>
        <p:nvSpPr>
          <p:cNvPr id="43" name="Shape 41"/>
          <p:cNvSpPr/>
          <p:nvPr/>
        </p:nvSpPr>
        <p:spPr>
          <a:xfrm>
            <a:off x="9985248" y="3163824"/>
            <a:ext cx="393192" cy="0"/>
          </a:xfrm>
          <a:prstGeom prst="line">
            <a:avLst/>
          </a:prstGeom>
          <a:noFill/>
          <a:ln w="12700">
            <a:solidFill>
              <a:srgbClr val="7691A7"/>
            </a:solidFill>
            <a:prstDash val="solid"/>
            <a:headEnd type="none"/>
            <a:tailEnd type="triangle"/>
          </a:ln>
        </p:spPr>
        <p:txBody>
          <a:bodyPr/>
          <a:lstStyle/>
          <a:p>
            <a:endParaRPr/>
          </a:p>
        </p:txBody>
      </p:sp>
      <p:sp>
        <p:nvSpPr>
          <p:cNvPr id="44" name="Shape 42"/>
          <p:cNvSpPr/>
          <p:nvPr/>
        </p:nvSpPr>
        <p:spPr>
          <a:xfrm>
            <a:off x="7818120" y="2249424"/>
            <a:ext cx="685800" cy="868680"/>
          </a:xfrm>
          <a:prstGeom prst="line">
            <a:avLst/>
          </a:prstGeom>
          <a:noFill/>
          <a:ln w="12700">
            <a:solidFill>
              <a:srgbClr val="7691A7"/>
            </a:solidFill>
            <a:prstDash val="solid"/>
            <a:tailEnd type="triangle"/>
          </a:ln>
        </p:spPr>
        <p:txBody>
          <a:bodyPr/>
          <a:lstStyle/>
          <a:p>
            <a:endParaRPr/>
          </a:p>
        </p:txBody>
      </p:sp>
      <p:sp>
        <p:nvSpPr>
          <p:cNvPr id="45" name="Shape 43"/>
          <p:cNvSpPr/>
          <p:nvPr/>
        </p:nvSpPr>
        <p:spPr>
          <a:xfrm>
            <a:off x="7818120" y="4178808"/>
            <a:ext cx="685800" cy="0"/>
          </a:xfrm>
          <a:prstGeom prst="line">
            <a:avLst/>
          </a:prstGeom>
          <a:noFill/>
          <a:ln w="12700">
            <a:solidFill>
              <a:srgbClr val="7691A7"/>
            </a:solidFill>
            <a:prstDash val="solid"/>
            <a:tailEnd type="triangle"/>
          </a:ln>
        </p:spPr>
        <p:txBody>
          <a:bodyPr/>
          <a:lstStyle/>
          <a:p>
            <a:endParaRPr/>
          </a:p>
        </p:txBody>
      </p:sp>
      <p:sp>
        <p:nvSpPr>
          <p:cNvPr id="46" name="Shape 44"/>
          <p:cNvSpPr/>
          <p:nvPr/>
        </p:nvSpPr>
        <p:spPr>
          <a:xfrm>
            <a:off x="749808" y="5056632"/>
            <a:ext cx="1874520"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47" name="Shape 45"/>
          <p:cNvSpPr/>
          <p:nvPr/>
        </p:nvSpPr>
        <p:spPr>
          <a:xfrm>
            <a:off x="749808" y="5056632"/>
            <a:ext cx="64008" cy="658368"/>
          </a:xfrm>
          <a:prstGeom prst="rect">
            <a:avLst/>
          </a:prstGeom>
          <a:solidFill>
            <a:srgbClr val="2D78B7"/>
          </a:solidFill>
          <a:ln w="12700">
            <a:solidFill>
              <a:srgbClr val="2D78B7"/>
            </a:solidFill>
            <a:prstDash val="solid"/>
          </a:ln>
        </p:spPr>
        <p:txBody>
          <a:bodyPr/>
          <a:lstStyle/>
          <a:p>
            <a:endParaRPr/>
          </a:p>
        </p:txBody>
      </p:sp>
      <p:sp>
        <p:nvSpPr>
          <p:cNvPr id="48" name="Text 46"/>
          <p:cNvSpPr/>
          <p:nvPr/>
        </p:nvSpPr>
        <p:spPr>
          <a:xfrm>
            <a:off x="914400" y="5166360"/>
            <a:ext cx="1618488"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AMC3330</a:t>
            </a:r>
            <a:endParaRPr lang="en-US" sz="1700" dirty="0"/>
          </a:p>
        </p:txBody>
      </p:sp>
      <p:sp>
        <p:nvSpPr>
          <p:cNvPr id="49" name="Text 47"/>
          <p:cNvSpPr/>
          <p:nvPr/>
        </p:nvSpPr>
        <p:spPr>
          <a:xfrm>
            <a:off x="914400" y="5449824"/>
            <a:ext cx="1618488"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voltage isolation</a:t>
            </a:r>
            <a:endParaRPr lang="en-US" sz="850" dirty="0"/>
          </a:p>
        </p:txBody>
      </p:sp>
      <p:sp>
        <p:nvSpPr>
          <p:cNvPr id="50" name="Shape 48"/>
          <p:cNvSpPr/>
          <p:nvPr/>
        </p:nvSpPr>
        <p:spPr>
          <a:xfrm>
            <a:off x="2788920" y="5056632"/>
            <a:ext cx="1874520"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51" name="Shape 49"/>
          <p:cNvSpPr/>
          <p:nvPr/>
        </p:nvSpPr>
        <p:spPr>
          <a:xfrm>
            <a:off x="2788920" y="5056632"/>
            <a:ext cx="64008" cy="658368"/>
          </a:xfrm>
          <a:prstGeom prst="rect">
            <a:avLst/>
          </a:prstGeom>
          <a:solidFill>
            <a:srgbClr val="0E8A92"/>
          </a:solidFill>
          <a:ln w="12700">
            <a:solidFill>
              <a:srgbClr val="0E8A92"/>
            </a:solidFill>
            <a:prstDash val="solid"/>
          </a:ln>
        </p:spPr>
        <p:txBody>
          <a:bodyPr/>
          <a:lstStyle/>
          <a:p>
            <a:endParaRPr/>
          </a:p>
        </p:txBody>
      </p:sp>
      <p:sp>
        <p:nvSpPr>
          <p:cNvPr id="52" name="Text 50"/>
          <p:cNvSpPr/>
          <p:nvPr/>
        </p:nvSpPr>
        <p:spPr>
          <a:xfrm>
            <a:off x="2953512" y="5166360"/>
            <a:ext cx="1618488"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ACS724</a:t>
            </a:r>
            <a:endParaRPr lang="en-US" sz="1700" dirty="0"/>
          </a:p>
        </p:txBody>
      </p:sp>
      <p:sp>
        <p:nvSpPr>
          <p:cNvPr id="53" name="Text 51"/>
          <p:cNvSpPr/>
          <p:nvPr/>
        </p:nvSpPr>
        <p:spPr>
          <a:xfrm>
            <a:off x="2953512" y="5449824"/>
            <a:ext cx="1618488"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current sensor</a:t>
            </a:r>
            <a:endParaRPr lang="en-US" sz="850" dirty="0"/>
          </a:p>
        </p:txBody>
      </p:sp>
      <p:sp>
        <p:nvSpPr>
          <p:cNvPr id="54" name="Shape 52"/>
          <p:cNvSpPr/>
          <p:nvPr/>
        </p:nvSpPr>
        <p:spPr>
          <a:xfrm>
            <a:off x="4828032" y="5056632"/>
            <a:ext cx="1874520"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55" name="Shape 53"/>
          <p:cNvSpPr/>
          <p:nvPr/>
        </p:nvSpPr>
        <p:spPr>
          <a:xfrm>
            <a:off x="4828032" y="5056632"/>
            <a:ext cx="64008" cy="658368"/>
          </a:xfrm>
          <a:prstGeom prst="rect">
            <a:avLst/>
          </a:prstGeom>
          <a:solidFill>
            <a:srgbClr val="2D78B7"/>
          </a:solidFill>
          <a:ln w="12700">
            <a:solidFill>
              <a:srgbClr val="2D78B7"/>
            </a:solidFill>
            <a:prstDash val="solid"/>
          </a:ln>
        </p:spPr>
        <p:txBody>
          <a:bodyPr/>
          <a:lstStyle/>
          <a:p>
            <a:endParaRPr/>
          </a:p>
        </p:txBody>
      </p:sp>
      <p:sp>
        <p:nvSpPr>
          <p:cNvPr id="56" name="Text 54"/>
          <p:cNvSpPr/>
          <p:nvPr/>
        </p:nvSpPr>
        <p:spPr>
          <a:xfrm>
            <a:off x="4992624" y="5166360"/>
            <a:ext cx="1618488"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2 × ADS8320</a:t>
            </a:r>
            <a:endParaRPr lang="en-US" sz="1700" dirty="0"/>
          </a:p>
        </p:txBody>
      </p:sp>
      <p:sp>
        <p:nvSpPr>
          <p:cNvPr id="57" name="Text 55"/>
          <p:cNvSpPr/>
          <p:nvPr/>
        </p:nvSpPr>
        <p:spPr>
          <a:xfrm>
            <a:off x="4992624" y="5449824"/>
            <a:ext cx="1618488"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conversion</a:t>
            </a:r>
            <a:endParaRPr lang="en-US" sz="850" dirty="0"/>
          </a:p>
        </p:txBody>
      </p:sp>
      <p:sp>
        <p:nvSpPr>
          <p:cNvPr id="58" name="Shape 56"/>
          <p:cNvSpPr/>
          <p:nvPr/>
        </p:nvSpPr>
        <p:spPr>
          <a:xfrm>
            <a:off x="6867144" y="5056632"/>
            <a:ext cx="1874520"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59" name="Shape 57"/>
          <p:cNvSpPr/>
          <p:nvPr/>
        </p:nvSpPr>
        <p:spPr>
          <a:xfrm>
            <a:off x="6867144" y="5056632"/>
            <a:ext cx="64008" cy="658368"/>
          </a:xfrm>
          <a:prstGeom prst="rect">
            <a:avLst/>
          </a:prstGeom>
          <a:solidFill>
            <a:srgbClr val="E98B2A"/>
          </a:solidFill>
          <a:ln w="12700">
            <a:solidFill>
              <a:srgbClr val="E98B2A"/>
            </a:solidFill>
            <a:prstDash val="solid"/>
          </a:ln>
        </p:spPr>
        <p:txBody>
          <a:bodyPr/>
          <a:lstStyle/>
          <a:p>
            <a:endParaRPr/>
          </a:p>
        </p:txBody>
      </p:sp>
      <p:sp>
        <p:nvSpPr>
          <p:cNvPr id="60" name="Text 58"/>
          <p:cNvSpPr/>
          <p:nvPr/>
        </p:nvSpPr>
        <p:spPr>
          <a:xfrm>
            <a:off x="7031736" y="5166360"/>
            <a:ext cx="1618488"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10 kS/s / ch</a:t>
            </a:r>
            <a:endParaRPr lang="en-US" sz="1700" dirty="0"/>
          </a:p>
        </p:txBody>
      </p:sp>
      <p:sp>
        <p:nvSpPr>
          <p:cNvPr id="61" name="Text 59"/>
          <p:cNvSpPr/>
          <p:nvPr/>
        </p:nvSpPr>
        <p:spPr>
          <a:xfrm>
            <a:off x="7031736" y="5449824"/>
            <a:ext cx="1618488"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sampling</a:t>
            </a:r>
            <a:endParaRPr lang="en-US" sz="850" dirty="0"/>
          </a:p>
        </p:txBody>
      </p:sp>
      <p:sp>
        <p:nvSpPr>
          <p:cNvPr id="62" name="Shape 60"/>
          <p:cNvSpPr/>
          <p:nvPr/>
        </p:nvSpPr>
        <p:spPr>
          <a:xfrm>
            <a:off x="8906256" y="5056632"/>
            <a:ext cx="2258568"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63" name="Shape 61"/>
          <p:cNvSpPr/>
          <p:nvPr/>
        </p:nvSpPr>
        <p:spPr>
          <a:xfrm>
            <a:off x="8906256" y="5056632"/>
            <a:ext cx="64008" cy="658368"/>
          </a:xfrm>
          <a:prstGeom prst="rect">
            <a:avLst/>
          </a:prstGeom>
          <a:solidFill>
            <a:srgbClr val="26855B"/>
          </a:solidFill>
          <a:ln w="12700">
            <a:solidFill>
              <a:srgbClr val="26855B"/>
            </a:solidFill>
            <a:prstDash val="solid"/>
          </a:ln>
        </p:spPr>
        <p:txBody>
          <a:bodyPr/>
          <a:lstStyle/>
          <a:p>
            <a:endParaRPr/>
          </a:p>
        </p:txBody>
      </p:sp>
      <p:sp>
        <p:nvSpPr>
          <p:cNvPr id="64" name="Text 62"/>
          <p:cNvSpPr/>
          <p:nvPr/>
        </p:nvSpPr>
        <p:spPr>
          <a:xfrm>
            <a:off x="9070848" y="5166360"/>
            <a:ext cx="2002536"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Goertzel 1–25</a:t>
            </a:r>
            <a:endParaRPr lang="en-US" sz="1700" dirty="0"/>
          </a:p>
        </p:txBody>
      </p:sp>
      <p:sp>
        <p:nvSpPr>
          <p:cNvPr id="65" name="Text 63"/>
          <p:cNvSpPr/>
          <p:nvPr/>
        </p:nvSpPr>
        <p:spPr>
          <a:xfrm>
            <a:off x="9070848" y="5449824"/>
            <a:ext cx="20025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harmonics</a:t>
            </a:r>
            <a:endParaRPr lang="en-US" sz="850" dirty="0"/>
          </a:p>
        </p:txBody>
      </p:sp>
      <p:sp>
        <p:nvSpPr>
          <p:cNvPr id="66" name="Text 64"/>
          <p:cNvSpPr/>
          <p:nvPr/>
        </p:nvSpPr>
        <p:spPr>
          <a:xfrm>
            <a:off x="1051560" y="5980176"/>
            <a:ext cx="10058400" cy="310896"/>
          </a:xfrm>
          <a:prstGeom prst="rect">
            <a:avLst/>
          </a:prstGeom>
          <a:noFill/>
          <a:ln/>
        </p:spPr>
        <p:txBody>
          <a:bodyPr wrap="square" lIns="0" tIns="0" rIns="0" bIns="0" rtlCol="0" anchor="ctr"/>
          <a:lstStyle/>
          <a:p>
            <a:pPr marL="0" indent="0" algn="ctr">
              <a:buNone/>
            </a:pPr>
            <a:r>
              <a:rPr lang="en-US" sz="1070" i="1" dirty="0">
                <a:solidFill>
                  <a:srgbClr val="5F6B7A"/>
                </a:solidFill>
              </a:rPr>
              <a:t>Shared ADC control gives a common sampling schedule; exact analogue phase alignment was not physically established.</a:t>
            </a:r>
            <a:endParaRPr lang="en-US" sz="1070" dirty="0"/>
          </a:p>
        </p:txBody>
      </p:sp>
      <p:sp>
        <p:nvSpPr>
          <p:cNvPr id="67"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0040"/>
            <a:ext cx="3657600" cy="201168"/>
          </a:xfrm>
          <a:prstGeom prst="rect">
            <a:avLst/>
          </a:prstGeom>
          <a:noFill/>
          <a:ln/>
        </p:spPr>
        <p:txBody>
          <a:bodyPr wrap="square" lIns="0" tIns="0" rIns="0" bIns="0" rtlCol="0" anchor="ctr"/>
          <a:lstStyle/>
          <a:p>
            <a:pPr marL="0" indent="0">
              <a:buNone/>
            </a:pPr>
            <a:r>
              <a:rPr lang="en-US" sz="1000" b="1" kern="0" spc="110" dirty="0">
                <a:solidFill>
                  <a:srgbClr val="2D78B7"/>
                </a:solidFill>
              </a:rPr>
              <a:t>PHYSICAL IMPLEMENTATION</a:t>
            </a:r>
            <a:endParaRPr lang="en-US" sz="1000" dirty="0"/>
          </a:p>
        </p:txBody>
      </p:sp>
      <p:sp>
        <p:nvSpPr>
          <p:cNvPr id="3" name="Text 1"/>
          <p:cNvSpPr/>
          <p:nvPr/>
        </p:nvSpPr>
        <p:spPr>
          <a:xfrm>
            <a:off x="566928" y="585216"/>
            <a:ext cx="10972800" cy="502920"/>
          </a:xfrm>
          <a:prstGeom prst="rect">
            <a:avLst/>
          </a:prstGeom>
          <a:noFill/>
          <a:ln/>
        </p:spPr>
        <p:txBody>
          <a:bodyPr wrap="square" lIns="0" tIns="0" rIns="0" bIns="0" rtlCol="0" anchor="ctr"/>
          <a:lstStyle/>
          <a:p>
            <a:pPr marL="0" indent="0">
              <a:buNone/>
            </a:pPr>
            <a:r>
              <a:rPr lang="en-US" sz="2600" b="1" dirty="0">
                <a:solidFill>
                  <a:srgbClr val="172033"/>
                </a:solidFill>
              </a:rPr>
              <a:t>Hardware prototype and commissioning</a:t>
            </a:r>
            <a:endParaRPr lang="en-US" sz="2600" dirty="0"/>
          </a:p>
        </p:txBody>
      </p:sp>
      <p:sp>
        <p:nvSpPr>
          <p:cNvPr id="4" name="Shape 2"/>
          <p:cNvSpPr/>
          <p:nvPr/>
        </p:nvSpPr>
        <p:spPr>
          <a:xfrm>
            <a:off x="640080" y="1298448"/>
            <a:ext cx="5074920" cy="3246120"/>
          </a:xfrm>
          <a:prstGeom prst="roundRect">
            <a:avLst>
              <a:gd name="adj" fmla="val 2254"/>
            </a:avLst>
          </a:prstGeom>
          <a:solidFill>
            <a:srgbClr val="FFFFFF"/>
          </a:solidFill>
          <a:ln w="12700">
            <a:solidFill>
              <a:srgbClr val="DCE5EE"/>
            </a:solidFill>
            <a:prstDash val="solid"/>
          </a:ln>
          <a:effectLst>
            <a:outerShdw algn="bl" rotWithShape="0">
              <a:srgbClr val="000000">
                <a:alpha val="0"/>
              </a:srgbClr>
            </a:outerShdw>
          </a:effectLst>
        </p:spPr>
        <p:txBody>
          <a:bodyPr/>
          <a:lstStyle/>
          <a:p>
            <a:endParaRPr/>
          </a:p>
        </p:txBody>
      </p:sp>
      <p:pic>
        <p:nvPicPr>
          <p:cNvPr id="5" name="Image 0" descr="/mnt/data/dissertation_media/word/media/image3.jpeg"/>
          <p:cNvPicPr>
            <a:picLocks noChangeAspect="1"/>
          </p:cNvPicPr>
          <p:nvPr/>
        </p:nvPicPr>
        <p:blipFill>
          <a:blip r:embed="rId3"/>
          <a:srcRect t="7709" b="7709"/>
          <a:stretch/>
        </p:blipFill>
        <p:spPr>
          <a:xfrm>
            <a:off x="676656" y="1335024"/>
            <a:ext cx="5001768" cy="3172968"/>
          </a:xfrm>
          <a:prstGeom prst="rect">
            <a:avLst/>
          </a:prstGeom>
        </p:spPr>
      </p:pic>
      <p:sp>
        <p:nvSpPr>
          <p:cNvPr id="6" name="Shape 3"/>
          <p:cNvSpPr/>
          <p:nvPr/>
        </p:nvSpPr>
        <p:spPr>
          <a:xfrm>
            <a:off x="5998464" y="1298448"/>
            <a:ext cx="5513832" cy="2011680"/>
          </a:xfrm>
          <a:prstGeom prst="roundRect">
            <a:avLst>
              <a:gd name="adj" fmla="val 3636"/>
            </a:avLst>
          </a:prstGeom>
          <a:solidFill>
            <a:srgbClr val="FFFFFF"/>
          </a:solidFill>
          <a:ln w="12700">
            <a:solidFill>
              <a:srgbClr val="DCE5EE"/>
            </a:solidFill>
            <a:prstDash val="solid"/>
          </a:ln>
          <a:effectLst>
            <a:outerShdw algn="bl" rotWithShape="0">
              <a:srgbClr val="000000">
                <a:alpha val="0"/>
              </a:srgbClr>
            </a:outerShdw>
          </a:effectLst>
        </p:spPr>
        <p:txBody>
          <a:bodyPr/>
          <a:lstStyle/>
          <a:p>
            <a:endParaRPr/>
          </a:p>
        </p:txBody>
      </p:sp>
      <p:pic>
        <p:nvPicPr>
          <p:cNvPr id="7" name="Image 1" descr="/mnt/data/dissertation_media/word/media/image7.png"/>
          <p:cNvPicPr>
            <a:picLocks noChangeAspect="1"/>
          </p:cNvPicPr>
          <p:nvPr/>
        </p:nvPicPr>
        <p:blipFill>
          <a:blip r:embed="rId4"/>
          <a:stretch>
            <a:fillRect/>
          </a:stretch>
        </p:blipFill>
        <p:spPr>
          <a:xfrm>
            <a:off x="6623857" y="1335024"/>
            <a:ext cx="4263046" cy="1938528"/>
          </a:xfrm>
          <a:prstGeom prst="rect">
            <a:avLst/>
          </a:prstGeom>
        </p:spPr>
      </p:pic>
      <p:sp>
        <p:nvSpPr>
          <p:cNvPr id="8" name="Shape 4"/>
          <p:cNvSpPr/>
          <p:nvPr/>
        </p:nvSpPr>
        <p:spPr>
          <a:xfrm>
            <a:off x="5998464" y="3529584"/>
            <a:ext cx="2788920" cy="1984248"/>
          </a:xfrm>
          <a:prstGeom prst="roundRect">
            <a:avLst>
              <a:gd name="adj" fmla="val 3687"/>
            </a:avLst>
          </a:prstGeom>
          <a:solidFill>
            <a:srgbClr val="FFFFFF"/>
          </a:solidFill>
          <a:ln w="12700">
            <a:solidFill>
              <a:srgbClr val="DCE5EE"/>
            </a:solidFill>
            <a:prstDash val="solid"/>
          </a:ln>
          <a:effectLst>
            <a:outerShdw algn="bl" rotWithShape="0">
              <a:srgbClr val="000000">
                <a:alpha val="0"/>
              </a:srgbClr>
            </a:outerShdw>
          </a:effectLst>
        </p:spPr>
        <p:txBody>
          <a:bodyPr/>
          <a:lstStyle/>
          <a:p>
            <a:endParaRPr/>
          </a:p>
        </p:txBody>
      </p:sp>
      <p:pic>
        <p:nvPicPr>
          <p:cNvPr id="9" name="Image 2" descr="/mnt/data/dissertation_media/word/media/image4.jpeg"/>
          <p:cNvPicPr>
            <a:picLocks noChangeAspect="1"/>
          </p:cNvPicPr>
          <p:nvPr/>
        </p:nvPicPr>
        <p:blipFill>
          <a:blip r:embed="rId5"/>
          <a:srcRect t="3086" b="3086"/>
          <a:stretch/>
        </p:blipFill>
        <p:spPr>
          <a:xfrm>
            <a:off x="6035040" y="3566160"/>
            <a:ext cx="2715768" cy="1911096"/>
          </a:xfrm>
          <a:prstGeom prst="rect">
            <a:avLst/>
          </a:prstGeom>
        </p:spPr>
      </p:pic>
      <p:sp>
        <p:nvSpPr>
          <p:cNvPr id="10" name="Shape 5"/>
          <p:cNvSpPr/>
          <p:nvPr/>
        </p:nvSpPr>
        <p:spPr>
          <a:xfrm>
            <a:off x="8979408" y="3529584"/>
            <a:ext cx="2532888" cy="1984248"/>
          </a:xfrm>
          <a:prstGeom prst="roundRect">
            <a:avLst>
              <a:gd name="adj" fmla="val 3687"/>
            </a:avLst>
          </a:prstGeom>
          <a:solidFill>
            <a:srgbClr val="FFF3E5"/>
          </a:solidFill>
          <a:ln w="12700">
            <a:solidFill>
              <a:srgbClr val="F3D4AF"/>
            </a:solidFill>
            <a:prstDash val="solid"/>
          </a:ln>
          <a:effectLst>
            <a:outerShdw algn="bl" rotWithShape="0">
              <a:srgbClr val="000000">
                <a:alpha val="0"/>
              </a:srgbClr>
            </a:outerShdw>
          </a:effectLst>
        </p:spPr>
        <p:txBody>
          <a:bodyPr/>
          <a:lstStyle/>
          <a:p>
            <a:endParaRPr/>
          </a:p>
        </p:txBody>
      </p:sp>
      <p:sp>
        <p:nvSpPr>
          <p:cNvPr id="11" name="Text 6"/>
          <p:cNvSpPr/>
          <p:nvPr/>
        </p:nvSpPr>
        <p:spPr>
          <a:xfrm>
            <a:off x="9208008" y="3776472"/>
            <a:ext cx="2011680" cy="237744"/>
          </a:xfrm>
          <a:prstGeom prst="rect">
            <a:avLst/>
          </a:prstGeom>
          <a:noFill/>
          <a:ln/>
        </p:spPr>
        <p:txBody>
          <a:bodyPr wrap="square" lIns="0" tIns="0" rIns="0" bIns="0" rtlCol="0" anchor="ctr"/>
          <a:lstStyle/>
          <a:p>
            <a:pPr marL="0" indent="0">
              <a:buNone/>
            </a:pPr>
            <a:r>
              <a:rPr lang="en-US" sz="1400" b="1" dirty="0">
                <a:solidFill>
                  <a:srgbClr val="E98B2A"/>
                </a:solidFill>
              </a:rPr>
              <a:t>As-built revisions</a:t>
            </a:r>
            <a:endParaRPr lang="en-US" sz="1400" dirty="0"/>
          </a:p>
        </p:txBody>
      </p:sp>
      <p:sp>
        <p:nvSpPr>
          <p:cNvPr id="12" name="Text 7"/>
          <p:cNvSpPr/>
          <p:nvPr/>
        </p:nvSpPr>
        <p:spPr>
          <a:xfrm>
            <a:off x="9208008" y="4142232"/>
            <a:ext cx="1901952" cy="1069848"/>
          </a:xfrm>
          <a:prstGeom prst="rect">
            <a:avLst/>
          </a:prstGeom>
          <a:noFill/>
          <a:ln/>
        </p:spPr>
        <p:txBody>
          <a:bodyPr wrap="square" lIns="127" tIns="127" rIns="127" bIns="127" rtlCol="0" anchor="ctr">
            <a:normAutofit fontScale="92500"/>
          </a:bodyPr>
          <a:lstStyle/>
          <a:p>
            <a:pPr marL="0" indent="0">
              <a:buNone/>
            </a:pPr>
            <a:r>
              <a:rPr lang="en-US" sz="1120" dirty="0">
                <a:solidFill>
                  <a:srgbClr val="172033"/>
                </a:solidFill>
              </a:rPr>
              <a:t>• External 6 V applied at C33</a:t>
            </a:r>
            <a:endParaRPr lang="en-US" sz="1120" dirty="0"/>
          </a:p>
          <a:p>
            <a:pPr marL="0" indent="0">
              <a:buNone/>
            </a:pPr>
            <a:r>
              <a:rPr lang="en-US" sz="1120" dirty="0">
                <a:solidFill>
                  <a:srgbClr val="172033"/>
                </a:solidFill>
              </a:rPr>
              <a:t>• Original 9 V path disconnected</a:t>
            </a:r>
            <a:endParaRPr lang="en-US" sz="1120" dirty="0"/>
          </a:p>
          <a:p>
            <a:pPr marL="0" indent="0">
              <a:buNone/>
            </a:pPr>
            <a:r>
              <a:rPr lang="en-US" sz="1120" dirty="0">
                <a:solidFill>
                  <a:srgbClr val="172033"/>
                </a:solidFill>
              </a:rPr>
              <a:t>• AMC3330 LDO_OUT–DCDC_IN jumper</a:t>
            </a:r>
            <a:endParaRPr lang="en-US" sz="1120" dirty="0"/>
          </a:p>
          <a:p>
            <a:pPr marL="0" indent="0">
              <a:buNone/>
            </a:pPr>
            <a:r>
              <a:rPr lang="en-US" sz="1120" dirty="0">
                <a:solidFill>
                  <a:srgbClr val="172033"/>
                </a:solidFill>
              </a:rPr>
              <a:t>• Results refer to this modified configuration</a:t>
            </a:r>
            <a:endParaRPr lang="en-US" sz="1120" dirty="0"/>
          </a:p>
        </p:txBody>
      </p:sp>
      <p:sp>
        <p:nvSpPr>
          <p:cNvPr id="13" name="Shape 8"/>
          <p:cNvSpPr/>
          <p:nvPr/>
        </p:nvSpPr>
        <p:spPr>
          <a:xfrm>
            <a:off x="713232" y="4846320"/>
            <a:ext cx="1810512" cy="310896"/>
          </a:xfrm>
          <a:prstGeom prst="roundRect">
            <a:avLst/>
          </a:prstGeom>
          <a:solidFill>
            <a:srgbClr val="EAF3FA"/>
          </a:solidFill>
          <a:ln w="12700">
            <a:solidFill>
              <a:srgbClr val="EAF3FA"/>
            </a:solidFill>
            <a:prstDash val="solid"/>
          </a:ln>
        </p:spPr>
        <p:txBody>
          <a:bodyPr/>
          <a:lstStyle/>
          <a:p>
            <a:endParaRPr/>
          </a:p>
        </p:txBody>
      </p:sp>
      <p:sp>
        <p:nvSpPr>
          <p:cNvPr id="14" name="Text 9"/>
          <p:cNvSpPr/>
          <p:nvPr/>
        </p:nvSpPr>
        <p:spPr>
          <a:xfrm>
            <a:off x="786384" y="4914900"/>
            <a:ext cx="1664208" cy="146304"/>
          </a:xfrm>
          <a:prstGeom prst="rect">
            <a:avLst/>
          </a:prstGeom>
          <a:noFill/>
          <a:ln/>
        </p:spPr>
        <p:txBody>
          <a:bodyPr wrap="square" lIns="0" tIns="0" rIns="0" bIns="0" rtlCol="0" anchor="ctr">
            <a:normAutofit/>
          </a:bodyPr>
          <a:lstStyle/>
          <a:p>
            <a:pPr marL="0" indent="0" algn="ctr">
              <a:buNone/>
            </a:pPr>
            <a:r>
              <a:rPr lang="en-US" sz="930" b="1" dirty="0">
                <a:solidFill>
                  <a:srgbClr val="003B70"/>
                </a:solidFill>
              </a:rPr>
              <a:t>4-layer custom PCB</a:t>
            </a:r>
            <a:endParaRPr lang="en-US" sz="930" dirty="0"/>
          </a:p>
        </p:txBody>
      </p:sp>
      <p:sp>
        <p:nvSpPr>
          <p:cNvPr id="15" name="Shape 10"/>
          <p:cNvSpPr/>
          <p:nvPr/>
        </p:nvSpPr>
        <p:spPr>
          <a:xfrm>
            <a:off x="2679192" y="4846320"/>
            <a:ext cx="1993392" cy="310896"/>
          </a:xfrm>
          <a:prstGeom prst="roundRect">
            <a:avLst/>
          </a:prstGeom>
          <a:solidFill>
            <a:srgbClr val="EAF3FA"/>
          </a:solidFill>
          <a:ln w="12700">
            <a:solidFill>
              <a:srgbClr val="EAF3FA"/>
            </a:solidFill>
            <a:prstDash val="solid"/>
          </a:ln>
        </p:spPr>
        <p:txBody>
          <a:bodyPr/>
          <a:lstStyle/>
          <a:p>
            <a:endParaRPr/>
          </a:p>
        </p:txBody>
      </p:sp>
      <p:sp>
        <p:nvSpPr>
          <p:cNvPr id="16" name="Text 11"/>
          <p:cNvSpPr/>
          <p:nvPr/>
        </p:nvSpPr>
        <p:spPr>
          <a:xfrm>
            <a:off x="2752344" y="4914900"/>
            <a:ext cx="1847088" cy="146304"/>
          </a:xfrm>
          <a:prstGeom prst="rect">
            <a:avLst/>
          </a:prstGeom>
          <a:noFill/>
          <a:ln/>
        </p:spPr>
        <p:txBody>
          <a:bodyPr wrap="square" lIns="0" tIns="0" rIns="0" bIns="0" rtlCol="0" anchor="ctr">
            <a:normAutofit/>
          </a:bodyPr>
          <a:lstStyle/>
          <a:p>
            <a:pPr marL="0" indent="0" algn="ctr">
              <a:buNone/>
            </a:pPr>
            <a:r>
              <a:rPr lang="en-US" sz="930" b="1" dirty="0">
                <a:solidFill>
                  <a:srgbClr val="003B70"/>
                </a:solidFill>
              </a:rPr>
              <a:t>REF5050 5 V reference</a:t>
            </a:r>
            <a:endParaRPr lang="en-US" sz="930" dirty="0"/>
          </a:p>
        </p:txBody>
      </p:sp>
      <p:sp>
        <p:nvSpPr>
          <p:cNvPr id="17" name="Shape 12"/>
          <p:cNvSpPr/>
          <p:nvPr/>
        </p:nvSpPr>
        <p:spPr>
          <a:xfrm>
            <a:off x="713232" y="5294376"/>
            <a:ext cx="1810512" cy="310896"/>
          </a:xfrm>
          <a:prstGeom prst="roundRect">
            <a:avLst/>
          </a:prstGeom>
          <a:solidFill>
            <a:srgbClr val="EAF6F0"/>
          </a:solidFill>
          <a:ln w="12700">
            <a:solidFill>
              <a:srgbClr val="EAF6F0"/>
            </a:solidFill>
            <a:prstDash val="solid"/>
          </a:ln>
        </p:spPr>
        <p:txBody>
          <a:bodyPr/>
          <a:lstStyle/>
          <a:p>
            <a:endParaRPr/>
          </a:p>
        </p:txBody>
      </p:sp>
      <p:sp>
        <p:nvSpPr>
          <p:cNvPr id="18" name="Text 13"/>
          <p:cNvSpPr/>
          <p:nvPr/>
        </p:nvSpPr>
        <p:spPr>
          <a:xfrm>
            <a:off x="786384" y="5362956"/>
            <a:ext cx="1664208" cy="146304"/>
          </a:xfrm>
          <a:prstGeom prst="rect">
            <a:avLst/>
          </a:prstGeom>
          <a:noFill/>
          <a:ln/>
        </p:spPr>
        <p:txBody>
          <a:bodyPr wrap="square" lIns="0" tIns="0" rIns="0" bIns="0" rtlCol="0" anchor="ctr">
            <a:normAutofit/>
          </a:bodyPr>
          <a:lstStyle/>
          <a:p>
            <a:pPr marL="0" indent="0" algn="ctr">
              <a:buNone/>
            </a:pPr>
            <a:r>
              <a:rPr lang="en-US" sz="930" b="1" dirty="0">
                <a:solidFill>
                  <a:srgbClr val="26855B"/>
                </a:solidFill>
              </a:rPr>
              <a:t>Vcon_P / Vcon_N</a:t>
            </a:r>
            <a:endParaRPr lang="en-US" sz="930" dirty="0"/>
          </a:p>
        </p:txBody>
      </p:sp>
      <p:sp>
        <p:nvSpPr>
          <p:cNvPr id="19" name="Shape 14"/>
          <p:cNvSpPr/>
          <p:nvPr/>
        </p:nvSpPr>
        <p:spPr>
          <a:xfrm>
            <a:off x="2679192" y="5294376"/>
            <a:ext cx="1993392" cy="310896"/>
          </a:xfrm>
          <a:prstGeom prst="roundRect">
            <a:avLst/>
          </a:prstGeom>
          <a:solidFill>
            <a:srgbClr val="EAF6F0"/>
          </a:solidFill>
          <a:ln w="12700">
            <a:solidFill>
              <a:srgbClr val="EAF6F0"/>
            </a:solidFill>
            <a:prstDash val="solid"/>
          </a:ln>
        </p:spPr>
        <p:txBody>
          <a:bodyPr/>
          <a:lstStyle/>
          <a:p>
            <a:endParaRPr/>
          </a:p>
        </p:txBody>
      </p:sp>
      <p:sp>
        <p:nvSpPr>
          <p:cNvPr id="20" name="Text 15"/>
          <p:cNvSpPr/>
          <p:nvPr/>
        </p:nvSpPr>
        <p:spPr>
          <a:xfrm>
            <a:off x="2752344" y="5362956"/>
            <a:ext cx="1847088" cy="146304"/>
          </a:xfrm>
          <a:prstGeom prst="rect">
            <a:avLst/>
          </a:prstGeom>
          <a:noFill/>
          <a:ln/>
        </p:spPr>
        <p:txBody>
          <a:bodyPr wrap="square" lIns="0" tIns="0" rIns="0" bIns="0" rtlCol="0" anchor="ctr">
            <a:normAutofit/>
          </a:bodyPr>
          <a:lstStyle/>
          <a:p>
            <a:pPr marL="0" indent="0" algn="ctr">
              <a:buNone/>
            </a:pPr>
            <a:r>
              <a:rPr lang="en-US" sz="930" b="1" dirty="0">
                <a:solidFill>
                  <a:srgbClr val="26855B"/>
                </a:solidFill>
              </a:rPr>
              <a:t>Icon_P / Icon_N</a:t>
            </a:r>
            <a:endParaRPr lang="en-US" sz="930" dirty="0"/>
          </a:p>
        </p:txBody>
      </p:sp>
      <p:sp>
        <p:nvSpPr>
          <p:cNvPr id="21" name="Text 16"/>
          <p:cNvSpPr/>
          <p:nvPr/>
        </p:nvSpPr>
        <p:spPr>
          <a:xfrm>
            <a:off x="804672" y="5824728"/>
            <a:ext cx="7498080" cy="274320"/>
          </a:xfrm>
          <a:prstGeom prst="rect">
            <a:avLst/>
          </a:prstGeom>
          <a:noFill/>
          <a:ln/>
        </p:spPr>
        <p:txBody>
          <a:bodyPr wrap="square" lIns="0" tIns="0" rIns="0" bIns="0" rtlCol="0" anchor="ctr"/>
          <a:lstStyle/>
          <a:p>
            <a:pPr marL="0" indent="0">
              <a:buNone/>
            </a:pPr>
            <a:r>
              <a:rPr lang="en-US" sz="1050" dirty="0">
                <a:solidFill>
                  <a:srgbClr val="5F6B7A"/>
                </a:solidFill>
              </a:rPr>
              <a:t>Left: voltage-channel lab setup. Top-right: final PCB layout. Bottom-right: DC current test setup.</a:t>
            </a:r>
            <a:endParaRPr lang="en-US" sz="1050" dirty="0"/>
          </a:p>
        </p:txBody>
      </p:sp>
      <p:sp>
        <p:nvSpPr>
          <p:cNvPr id="25"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0040"/>
            <a:ext cx="3657600" cy="201168"/>
          </a:xfrm>
          <a:prstGeom prst="rect">
            <a:avLst/>
          </a:prstGeom>
          <a:noFill/>
          <a:ln/>
        </p:spPr>
        <p:txBody>
          <a:bodyPr wrap="square" lIns="0" tIns="0" rIns="0" bIns="0" rtlCol="0" anchor="ctr"/>
          <a:lstStyle/>
          <a:p>
            <a:pPr marL="0" indent="0">
              <a:buNone/>
            </a:pPr>
            <a:r>
              <a:rPr lang="en-US" sz="1000" b="1" kern="0" spc="110" dirty="0">
                <a:solidFill>
                  <a:srgbClr val="2D78B7"/>
                </a:solidFill>
              </a:rPr>
              <a:t>DIGITAL IMPLEMENTATION</a:t>
            </a:r>
            <a:endParaRPr lang="en-US" sz="1000" dirty="0"/>
          </a:p>
        </p:txBody>
      </p:sp>
      <p:sp>
        <p:nvSpPr>
          <p:cNvPr id="3" name="Text 1"/>
          <p:cNvSpPr/>
          <p:nvPr/>
        </p:nvSpPr>
        <p:spPr>
          <a:xfrm>
            <a:off x="566928" y="585216"/>
            <a:ext cx="10972800" cy="502920"/>
          </a:xfrm>
          <a:prstGeom prst="rect">
            <a:avLst/>
          </a:prstGeom>
          <a:noFill/>
          <a:ln/>
        </p:spPr>
        <p:txBody>
          <a:bodyPr wrap="square" lIns="0" tIns="0" rIns="0" bIns="0" rtlCol="0" anchor="ctr"/>
          <a:lstStyle/>
          <a:p>
            <a:pPr marL="0" indent="0">
              <a:buNone/>
            </a:pPr>
            <a:r>
              <a:rPr lang="en-US" sz="2600" b="1" dirty="0">
                <a:solidFill>
                  <a:srgbClr val="172033"/>
                </a:solidFill>
              </a:rPr>
              <a:t>FPGA processing and software interface</a:t>
            </a:r>
            <a:endParaRPr lang="en-US" sz="2600" dirty="0"/>
          </a:p>
        </p:txBody>
      </p:sp>
      <p:sp>
        <p:nvSpPr>
          <p:cNvPr id="4" name="Shape 2"/>
          <p:cNvSpPr/>
          <p:nvPr/>
        </p:nvSpPr>
        <p:spPr>
          <a:xfrm>
            <a:off x="658368" y="1481328"/>
            <a:ext cx="1353312" cy="896112"/>
          </a:xfrm>
          <a:prstGeom prst="roundRect">
            <a:avLst/>
          </a:prstGeom>
          <a:solidFill>
            <a:srgbClr val="FFFFFF"/>
          </a:solidFill>
          <a:ln w="12700">
            <a:solidFill>
              <a:srgbClr val="D9E2EC"/>
            </a:solidFill>
            <a:prstDash val="solid"/>
          </a:ln>
        </p:spPr>
        <p:txBody>
          <a:bodyPr/>
          <a:lstStyle/>
          <a:p>
            <a:endParaRPr/>
          </a:p>
        </p:txBody>
      </p:sp>
      <p:sp>
        <p:nvSpPr>
          <p:cNvPr id="5" name="Text 3"/>
          <p:cNvSpPr/>
          <p:nvPr/>
        </p:nvSpPr>
        <p:spPr>
          <a:xfrm>
            <a:off x="731520" y="1664208"/>
            <a:ext cx="1207008" cy="457200"/>
          </a:xfrm>
          <a:prstGeom prst="rect">
            <a:avLst/>
          </a:prstGeom>
          <a:noFill/>
          <a:ln/>
        </p:spPr>
        <p:txBody>
          <a:bodyPr wrap="square" lIns="0" tIns="0" rIns="0" bIns="0" rtlCol="0" anchor="ctr">
            <a:normAutofit/>
          </a:bodyPr>
          <a:lstStyle/>
          <a:p>
            <a:pPr marL="0" indent="0" algn="ctr">
              <a:buNone/>
            </a:pPr>
            <a:r>
              <a:rPr lang="en-US" sz="1200" b="1" dirty="0">
                <a:solidFill>
                  <a:srgbClr val="172033"/>
                </a:solidFill>
              </a:rPr>
              <a:t>ADC pair</a:t>
            </a:r>
            <a:endParaRPr lang="en-US" sz="1200" dirty="0"/>
          </a:p>
          <a:p>
            <a:pPr marL="0" indent="0" algn="ctr">
              <a:buNone/>
            </a:pPr>
            <a:r>
              <a:rPr lang="en-US" sz="1200" b="1" dirty="0">
                <a:solidFill>
                  <a:srgbClr val="172033"/>
                </a:solidFill>
              </a:rPr>
              <a:t>16-bit</a:t>
            </a:r>
            <a:endParaRPr lang="en-US" sz="1200" dirty="0"/>
          </a:p>
        </p:txBody>
      </p:sp>
      <p:sp>
        <p:nvSpPr>
          <p:cNvPr id="6" name="Shape 4"/>
          <p:cNvSpPr/>
          <p:nvPr/>
        </p:nvSpPr>
        <p:spPr>
          <a:xfrm>
            <a:off x="2011680" y="1929384"/>
            <a:ext cx="256032" cy="0"/>
          </a:xfrm>
          <a:prstGeom prst="line">
            <a:avLst/>
          </a:prstGeom>
          <a:noFill/>
          <a:ln w="12700">
            <a:solidFill>
              <a:srgbClr val="7D97AA"/>
            </a:solidFill>
            <a:prstDash val="solid"/>
            <a:tailEnd type="triangle"/>
          </a:ln>
        </p:spPr>
        <p:txBody>
          <a:bodyPr/>
          <a:lstStyle/>
          <a:p>
            <a:endParaRPr/>
          </a:p>
        </p:txBody>
      </p:sp>
      <p:sp>
        <p:nvSpPr>
          <p:cNvPr id="7" name="Shape 5"/>
          <p:cNvSpPr/>
          <p:nvPr/>
        </p:nvSpPr>
        <p:spPr>
          <a:xfrm>
            <a:off x="2267712" y="1481328"/>
            <a:ext cx="1417320" cy="896112"/>
          </a:xfrm>
          <a:prstGeom prst="roundRect">
            <a:avLst/>
          </a:prstGeom>
          <a:solidFill>
            <a:srgbClr val="FFFFFF"/>
          </a:solidFill>
          <a:ln w="12700">
            <a:solidFill>
              <a:srgbClr val="D9E2EC"/>
            </a:solidFill>
            <a:prstDash val="solid"/>
          </a:ln>
        </p:spPr>
        <p:txBody>
          <a:bodyPr/>
          <a:lstStyle/>
          <a:p>
            <a:endParaRPr/>
          </a:p>
        </p:txBody>
      </p:sp>
      <p:sp>
        <p:nvSpPr>
          <p:cNvPr id="8" name="Text 6"/>
          <p:cNvSpPr/>
          <p:nvPr/>
        </p:nvSpPr>
        <p:spPr>
          <a:xfrm>
            <a:off x="2340864" y="1664208"/>
            <a:ext cx="1271016" cy="457200"/>
          </a:xfrm>
          <a:prstGeom prst="rect">
            <a:avLst/>
          </a:prstGeom>
          <a:noFill/>
          <a:ln/>
        </p:spPr>
        <p:txBody>
          <a:bodyPr wrap="square" lIns="0" tIns="0" rIns="0" bIns="0" rtlCol="0" anchor="ctr">
            <a:normAutofit/>
          </a:bodyPr>
          <a:lstStyle/>
          <a:p>
            <a:pPr marL="0" indent="0" algn="ctr">
              <a:buNone/>
            </a:pPr>
            <a:r>
              <a:rPr lang="en-US" sz="1200" b="1" dirty="0">
                <a:solidFill>
                  <a:srgbClr val="172033"/>
                </a:solidFill>
              </a:rPr>
              <a:t>Offset removal</a:t>
            </a:r>
            <a:endParaRPr lang="en-US" sz="1200" dirty="0"/>
          </a:p>
          <a:p>
            <a:pPr marL="0" indent="0" algn="ctr">
              <a:buNone/>
            </a:pPr>
            <a:r>
              <a:rPr lang="en-US" sz="1200" b="1" dirty="0">
                <a:solidFill>
                  <a:srgbClr val="172033"/>
                </a:solidFill>
              </a:rPr>
              <a:t>+ scaling</a:t>
            </a:r>
            <a:endParaRPr lang="en-US" sz="1200" dirty="0"/>
          </a:p>
        </p:txBody>
      </p:sp>
      <p:sp>
        <p:nvSpPr>
          <p:cNvPr id="9" name="Shape 7"/>
          <p:cNvSpPr/>
          <p:nvPr/>
        </p:nvSpPr>
        <p:spPr>
          <a:xfrm>
            <a:off x="3685032" y="1929384"/>
            <a:ext cx="374904" cy="0"/>
          </a:xfrm>
          <a:prstGeom prst="line">
            <a:avLst/>
          </a:prstGeom>
          <a:noFill/>
          <a:ln w="12700">
            <a:solidFill>
              <a:srgbClr val="7D97AA"/>
            </a:solidFill>
            <a:prstDash val="solid"/>
            <a:tailEnd type="triangle"/>
          </a:ln>
        </p:spPr>
        <p:txBody>
          <a:bodyPr/>
          <a:lstStyle/>
          <a:p>
            <a:endParaRPr/>
          </a:p>
        </p:txBody>
      </p:sp>
      <p:sp>
        <p:nvSpPr>
          <p:cNvPr id="10" name="Shape 8"/>
          <p:cNvSpPr/>
          <p:nvPr/>
        </p:nvSpPr>
        <p:spPr>
          <a:xfrm>
            <a:off x="4059936" y="1481328"/>
            <a:ext cx="1572768" cy="896112"/>
          </a:xfrm>
          <a:prstGeom prst="roundRect">
            <a:avLst/>
          </a:prstGeom>
          <a:solidFill>
            <a:srgbClr val="EAF6F0"/>
          </a:solidFill>
          <a:ln w="12700">
            <a:solidFill>
              <a:srgbClr val="26855B"/>
            </a:solidFill>
            <a:prstDash val="solid"/>
          </a:ln>
        </p:spPr>
        <p:txBody>
          <a:bodyPr/>
          <a:lstStyle/>
          <a:p>
            <a:endParaRPr/>
          </a:p>
        </p:txBody>
      </p:sp>
      <p:sp>
        <p:nvSpPr>
          <p:cNvPr id="11" name="Text 9"/>
          <p:cNvSpPr/>
          <p:nvPr/>
        </p:nvSpPr>
        <p:spPr>
          <a:xfrm>
            <a:off x="4133088" y="1664208"/>
            <a:ext cx="1426464" cy="457200"/>
          </a:xfrm>
          <a:prstGeom prst="rect">
            <a:avLst/>
          </a:prstGeom>
          <a:noFill/>
          <a:ln/>
        </p:spPr>
        <p:txBody>
          <a:bodyPr wrap="square" lIns="0" tIns="0" rIns="0" bIns="0" rtlCol="0" anchor="ctr">
            <a:normAutofit/>
          </a:bodyPr>
          <a:lstStyle/>
          <a:p>
            <a:pPr marL="0" indent="0" algn="ctr">
              <a:buNone/>
            </a:pPr>
            <a:r>
              <a:rPr lang="en-US" sz="1200" b="1" dirty="0">
                <a:solidFill>
                  <a:srgbClr val="172033"/>
                </a:solidFill>
              </a:rPr>
              <a:t>Parallel</a:t>
            </a:r>
            <a:endParaRPr lang="en-US" sz="1200" dirty="0"/>
          </a:p>
          <a:p>
            <a:pPr marL="0" indent="0" algn="ctr">
              <a:buNone/>
            </a:pPr>
            <a:r>
              <a:rPr lang="en-US" sz="1200" b="1" dirty="0">
                <a:solidFill>
                  <a:srgbClr val="172033"/>
                </a:solidFill>
              </a:rPr>
              <a:t>processing</a:t>
            </a:r>
            <a:endParaRPr lang="en-US" sz="1200" dirty="0"/>
          </a:p>
        </p:txBody>
      </p:sp>
      <p:sp>
        <p:nvSpPr>
          <p:cNvPr id="12" name="Shape 10"/>
          <p:cNvSpPr/>
          <p:nvPr/>
        </p:nvSpPr>
        <p:spPr>
          <a:xfrm>
            <a:off x="5632704" y="1929384"/>
            <a:ext cx="347472" cy="0"/>
          </a:xfrm>
          <a:prstGeom prst="line">
            <a:avLst/>
          </a:prstGeom>
          <a:noFill/>
          <a:ln w="12700">
            <a:solidFill>
              <a:srgbClr val="7D97AA"/>
            </a:solidFill>
            <a:prstDash val="solid"/>
            <a:tailEnd type="triangle"/>
          </a:ln>
        </p:spPr>
        <p:txBody>
          <a:bodyPr/>
          <a:lstStyle/>
          <a:p>
            <a:endParaRPr/>
          </a:p>
        </p:txBody>
      </p:sp>
      <p:sp>
        <p:nvSpPr>
          <p:cNvPr id="13" name="Shape 11"/>
          <p:cNvSpPr/>
          <p:nvPr/>
        </p:nvSpPr>
        <p:spPr>
          <a:xfrm>
            <a:off x="5980176" y="1481328"/>
            <a:ext cx="1444752" cy="896112"/>
          </a:xfrm>
          <a:prstGeom prst="roundRect">
            <a:avLst/>
          </a:prstGeom>
          <a:solidFill>
            <a:srgbClr val="FFFFFF"/>
          </a:solidFill>
          <a:ln w="12700">
            <a:solidFill>
              <a:srgbClr val="D9E2EC"/>
            </a:solidFill>
            <a:prstDash val="solid"/>
          </a:ln>
        </p:spPr>
        <p:txBody>
          <a:bodyPr/>
          <a:lstStyle/>
          <a:p>
            <a:endParaRPr/>
          </a:p>
        </p:txBody>
      </p:sp>
      <p:sp>
        <p:nvSpPr>
          <p:cNvPr id="14" name="Text 12"/>
          <p:cNvSpPr/>
          <p:nvPr/>
        </p:nvSpPr>
        <p:spPr>
          <a:xfrm>
            <a:off x="6053328" y="1664208"/>
            <a:ext cx="1298448" cy="457200"/>
          </a:xfrm>
          <a:prstGeom prst="rect">
            <a:avLst/>
          </a:prstGeom>
          <a:noFill/>
          <a:ln/>
        </p:spPr>
        <p:txBody>
          <a:bodyPr wrap="square" lIns="0" tIns="0" rIns="0" bIns="0" rtlCol="0" anchor="ctr">
            <a:normAutofit/>
          </a:bodyPr>
          <a:lstStyle/>
          <a:p>
            <a:pPr marL="0" indent="0" algn="ctr">
              <a:buNone/>
            </a:pPr>
            <a:r>
              <a:rPr lang="en-US" sz="1200" b="1" dirty="0">
                <a:solidFill>
                  <a:srgbClr val="172033"/>
                </a:solidFill>
              </a:rPr>
              <a:t>AA55 / AA56</a:t>
            </a:r>
            <a:endParaRPr lang="en-US" sz="1200" dirty="0"/>
          </a:p>
          <a:p>
            <a:pPr marL="0" indent="0" algn="ctr">
              <a:buNone/>
            </a:pPr>
            <a:r>
              <a:rPr lang="en-US" sz="1200" b="1" dirty="0">
                <a:solidFill>
                  <a:srgbClr val="172033"/>
                </a:solidFill>
              </a:rPr>
              <a:t>packetisation</a:t>
            </a:r>
            <a:endParaRPr lang="en-US" sz="1200" dirty="0"/>
          </a:p>
        </p:txBody>
      </p:sp>
      <p:sp>
        <p:nvSpPr>
          <p:cNvPr id="15" name="Shape 13"/>
          <p:cNvSpPr/>
          <p:nvPr/>
        </p:nvSpPr>
        <p:spPr>
          <a:xfrm>
            <a:off x="7424928" y="1929384"/>
            <a:ext cx="329184" cy="0"/>
          </a:xfrm>
          <a:prstGeom prst="line">
            <a:avLst/>
          </a:prstGeom>
          <a:noFill/>
          <a:ln w="12700">
            <a:solidFill>
              <a:srgbClr val="7D97AA"/>
            </a:solidFill>
            <a:prstDash val="solid"/>
            <a:tailEnd type="triangle"/>
          </a:ln>
        </p:spPr>
        <p:txBody>
          <a:bodyPr/>
          <a:lstStyle/>
          <a:p>
            <a:endParaRPr/>
          </a:p>
        </p:txBody>
      </p:sp>
      <p:sp>
        <p:nvSpPr>
          <p:cNvPr id="16" name="Shape 14"/>
          <p:cNvSpPr/>
          <p:nvPr/>
        </p:nvSpPr>
        <p:spPr>
          <a:xfrm>
            <a:off x="7754112" y="1481328"/>
            <a:ext cx="1298448" cy="896112"/>
          </a:xfrm>
          <a:prstGeom prst="roundRect">
            <a:avLst/>
          </a:prstGeom>
          <a:solidFill>
            <a:srgbClr val="FFFFFF"/>
          </a:solidFill>
          <a:ln w="12700">
            <a:solidFill>
              <a:srgbClr val="D9E2EC"/>
            </a:solidFill>
            <a:prstDash val="solid"/>
          </a:ln>
        </p:spPr>
        <p:txBody>
          <a:bodyPr/>
          <a:lstStyle/>
          <a:p>
            <a:endParaRPr/>
          </a:p>
        </p:txBody>
      </p:sp>
      <p:sp>
        <p:nvSpPr>
          <p:cNvPr id="17" name="Text 15"/>
          <p:cNvSpPr/>
          <p:nvPr/>
        </p:nvSpPr>
        <p:spPr>
          <a:xfrm>
            <a:off x="7827264" y="1664208"/>
            <a:ext cx="1152144" cy="457200"/>
          </a:xfrm>
          <a:prstGeom prst="rect">
            <a:avLst/>
          </a:prstGeom>
          <a:noFill/>
          <a:ln/>
        </p:spPr>
        <p:txBody>
          <a:bodyPr wrap="square" lIns="0" tIns="0" rIns="0" bIns="0" rtlCol="0" anchor="ctr">
            <a:normAutofit/>
          </a:bodyPr>
          <a:lstStyle/>
          <a:p>
            <a:pPr marL="0" indent="0" algn="ctr">
              <a:buNone/>
            </a:pPr>
            <a:r>
              <a:rPr lang="en-US" sz="1200" b="1" dirty="0">
                <a:solidFill>
                  <a:srgbClr val="172033"/>
                </a:solidFill>
              </a:rPr>
              <a:t>UART</a:t>
            </a:r>
            <a:endParaRPr lang="en-US" sz="1200" dirty="0"/>
          </a:p>
          <a:p>
            <a:pPr marL="0" indent="0" algn="ctr">
              <a:buNone/>
            </a:pPr>
            <a:r>
              <a:rPr lang="en-US" sz="1200" b="1" dirty="0">
                <a:solidFill>
                  <a:srgbClr val="172033"/>
                </a:solidFill>
              </a:rPr>
              <a:t>115200</a:t>
            </a:r>
            <a:endParaRPr lang="en-US" sz="1200" dirty="0"/>
          </a:p>
        </p:txBody>
      </p:sp>
      <p:sp>
        <p:nvSpPr>
          <p:cNvPr id="18" name="Shape 16"/>
          <p:cNvSpPr/>
          <p:nvPr/>
        </p:nvSpPr>
        <p:spPr>
          <a:xfrm>
            <a:off x="9052560" y="1929384"/>
            <a:ext cx="502920" cy="0"/>
          </a:xfrm>
          <a:prstGeom prst="line">
            <a:avLst/>
          </a:prstGeom>
          <a:noFill/>
          <a:ln w="12700">
            <a:solidFill>
              <a:srgbClr val="7D97AA"/>
            </a:solidFill>
            <a:prstDash val="solid"/>
            <a:tailEnd type="triangle"/>
          </a:ln>
        </p:spPr>
        <p:txBody>
          <a:bodyPr/>
          <a:lstStyle/>
          <a:p>
            <a:endParaRPr/>
          </a:p>
        </p:txBody>
      </p:sp>
      <p:sp>
        <p:nvSpPr>
          <p:cNvPr id="19" name="Text 17"/>
          <p:cNvSpPr/>
          <p:nvPr/>
        </p:nvSpPr>
        <p:spPr>
          <a:xfrm>
            <a:off x="3913632" y="2587752"/>
            <a:ext cx="5166360" cy="265176"/>
          </a:xfrm>
          <a:prstGeom prst="rect">
            <a:avLst/>
          </a:prstGeom>
          <a:noFill/>
          <a:ln/>
        </p:spPr>
        <p:txBody>
          <a:bodyPr wrap="square" lIns="0" tIns="0" rIns="0" bIns="0" rtlCol="0" anchor="ctr">
            <a:normAutofit fontScale="92500"/>
          </a:bodyPr>
          <a:lstStyle/>
          <a:p>
            <a:pPr marL="0" indent="0" algn="ctr">
              <a:buNone/>
            </a:pPr>
            <a:r>
              <a:rPr lang="en-US" sz="1010" b="1" dirty="0">
                <a:solidFill>
                  <a:srgbClr val="26855B"/>
                </a:solidFill>
              </a:rPr>
              <a:t>RMS   |   frequency   |   active / apparent power   |   PF   |   sag/swell   |   adaptive Goertzel THD</a:t>
            </a:r>
            <a:endParaRPr lang="en-US" sz="1010" dirty="0"/>
          </a:p>
        </p:txBody>
      </p:sp>
      <p:sp>
        <p:nvSpPr>
          <p:cNvPr id="20" name="Shape 18"/>
          <p:cNvSpPr/>
          <p:nvPr/>
        </p:nvSpPr>
        <p:spPr>
          <a:xfrm>
            <a:off x="9491472" y="1261872"/>
            <a:ext cx="2103120" cy="1353312"/>
          </a:xfrm>
          <a:prstGeom prst="roundRect">
            <a:avLst>
              <a:gd name="adj" fmla="val 5405"/>
            </a:avLst>
          </a:prstGeom>
          <a:solidFill>
            <a:srgbClr val="FFFFFF"/>
          </a:solidFill>
          <a:ln w="12700">
            <a:solidFill>
              <a:srgbClr val="DCE5EE"/>
            </a:solidFill>
            <a:prstDash val="solid"/>
          </a:ln>
          <a:effectLst>
            <a:outerShdw algn="bl" rotWithShape="0">
              <a:srgbClr val="000000">
                <a:alpha val="0"/>
              </a:srgbClr>
            </a:outerShdw>
          </a:effectLst>
        </p:spPr>
        <p:txBody>
          <a:bodyPr/>
          <a:lstStyle/>
          <a:p>
            <a:endParaRPr/>
          </a:p>
        </p:txBody>
      </p:sp>
      <p:pic>
        <p:nvPicPr>
          <p:cNvPr id="21" name="Image 0" descr="/mnt/data/dissertation_media/word/media/image11.png"/>
          <p:cNvPicPr>
            <a:picLocks noChangeAspect="1"/>
          </p:cNvPicPr>
          <p:nvPr/>
        </p:nvPicPr>
        <p:blipFill>
          <a:blip r:embed="rId3"/>
          <a:stretch>
            <a:fillRect/>
          </a:stretch>
        </p:blipFill>
        <p:spPr>
          <a:xfrm>
            <a:off x="9528048" y="1508593"/>
            <a:ext cx="2029968" cy="859870"/>
          </a:xfrm>
          <a:prstGeom prst="rect">
            <a:avLst/>
          </a:prstGeom>
        </p:spPr>
      </p:pic>
      <p:sp>
        <p:nvSpPr>
          <p:cNvPr id="22" name="Shape 19"/>
          <p:cNvSpPr/>
          <p:nvPr/>
        </p:nvSpPr>
        <p:spPr>
          <a:xfrm>
            <a:off x="7196328" y="3127248"/>
            <a:ext cx="4389120" cy="2304288"/>
          </a:xfrm>
          <a:prstGeom prst="roundRect">
            <a:avLst>
              <a:gd name="adj" fmla="val 3175"/>
            </a:avLst>
          </a:prstGeom>
          <a:solidFill>
            <a:srgbClr val="FFFFFF"/>
          </a:solidFill>
          <a:ln w="12700">
            <a:solidFill>
              <a:srgbClr val="DCE5EE"/>
            </a:solidFill>
            <a:prstDash val="solid"/>
          </a:ln>
          <a:effectLst>
            <a:outerShdw algn="bl" rotWithShape="0">
              <a:srgbClr val="000000">
                <a:alpha val="0"/>
              </a:srgbClr>
            </a:outerShdw>
          </a:effectLst>
        </p:spPr>
        <p:txBody>
          <a:bodyPr/>
          <a:lstStyle/>
          <a:p>
            <a:endParaRPr/>
          </a:p>
        </p:txBody>
      </p:sp>
      <p:pic>
        <p:nvPicPr>
          <p:cNvPr id="23" name="Image 1" descr="/mnt/data/dissertation_media/word/media/image14.png"/>
          <p:cNvPicPr>
            <a:picLocks noChangeAspect="1"/>
          </p:cNvPicPr>
          <p:nvPr/>
        </p:nvPicPr>
        <p:blipFill>
          <a:blip r:embed="rId4"/>
          <a:stretch>
            <a:fillRect/>
          </a:stretch>
        </p:blipFill>
        <p:spPr>
          <a:xfrm>
            <a:off x="7232904" y="3185414"/>
            <a:ext cx="4315968" cy="2187956"/>
          </a:xfrm>
          <a:prstGeom prst="rect">
            <a:avLst/>
          </a:prstGeom>
        </p:spPr>
      </p:pic>
      <p:sp>
        <p:nvSpPr>
          <p:cNvPr id="24" name="Shape 20"/>
          <p:cNvSpPr/>
          <p:nvPr/>
        </p:nvSpPr>
        <p:spPr>
          <a:xfrm>
            <a:off x="658368" y="3127248"/>
            <a:ext cx="6181344" cy="2304288"/>
          </a:xfrm>
          <a:prstGeom prst="roundRect">
            <a:avLst>
              <a:gd name="adj" fmla="val 3175"/>
            </a:avLst>
          </a:prstGeom>
          <a:solidFill>
            <a:srgbClr val="FFFFFF"/>
          </a:solidFill>
          <a:ln w="12700">
            <a:solidFill>
              <a:srgbClr val="D9E2EC"/>
            </a:solidFill>
            <a:prstDash val="solid"/>
          </a:ln>
          <a:effectLst>
            <a:outerShdw algn="bl" rotWithShape="0">
              <a:srgbClr val="000000">
                <a:alpha val="0"/>
              </a:srgbClr>
            </a:outerShdw>
          </a:effectLst>
        </p:spPr>
        <p:txBody>
          <a:bodyPr/>
          <a:lstStyle/>
          <a:p>
            <a:endParaRPr/>
          </a:p>
        </p:txBody>
      </p:sp>
      <p:sp>
        <p:nvSpPr>
          <p:cNvPr id="25" name="Text 21"/>
          <p:cNvSpPr/>
          <p:nvPr/>
        </p:nvSpPr>
        <p:spPr>
          <a:xfrm>
            <a:off x="914400" y="3401568"/>
            <a:ext cx="2377440" cy="274320"/>
          </a:xfrm>
          <a:prstGeom prst="rect">
            <a:avLst/>
          </a:prstGeom>
          <a:noFill/>
          <a:ln/>
        </p:spPr>
        <p:txBody>
          <a:bodyPr wrap="square" lIns="0" tIns="0" rIns="0" bIns="0" rtlCol="0" anchor="ctr"/>
          <a:lstStyle/>
          <a:p>
            <a:pPr marL="0" indent="0">
              <a:buNone/>
            </a:pPr>
            <a:r>
              <a:rPr lang="en-US" sz="1500" b="1" dirty="0">
                <a:solidFill>
                  <a:srgbClr val="003B70"/>
                </a:solidFill>
              </a:rPr>
              <a:t>Implementation choices</a:t>
            </a:r>
            <a:endParaRPr lang="en-US" sz="1500" dirty="0"/>
          </a:p>
        </p:txBody>
      </p:sp>
      <p:sp>
        <p:nvSpPr>
          <p:cNvPr id="26" name="Text 22"/>
          <p:cNvSpPr/>
          <p:nvPr/>
        </p:nvSpPr>
        <p:spPr>
          <a:xfrm>
            <a:off x="914400" y="3785616"/>
            <a:ext cx="5440680" cy="1261872"/>
          </a:xfrm>
          <a:prstGeom prst="rect">
            <a:avLst/>
          </a:prstGeom>
          <a:noFill/>
          <a:ln/>
        </p:spPr>
        <p:txBody>
          <a:bodyPr wrap="square" lIns="127" tIns="127" rIns="127" bIns="127" rtlCol="0" anchor="ctr">
            <a:normAutofit/>
          </a:bodyPr>
          <a:lstStyle/>
          <a:p>
            <a:pPr marL="0" indent="0">
              <a:buNone/>
            </a:pPr>
            <a:r>
              <a:rPr lang="en-US" sz="1270" dirty="0">
                <a:solidFill>
                  <a:srgbClr val="172033"/>
                </a:solidFill>
              </a:rPr>
              <a:t>• TEST_MODE = false for final physical tests</a:t>
            </a:r>
            <a:endParaRPr lang="en-US" sz="1270" dirty="0"/>
          </a:p>
          <a:p>
            <a:pPr marL="0" indent="0">
              <a:buNone/>
            </a:pPr>
            <a:r>
              <a:rPr lang="en-US" sz="1270" dirty="0">
                <a:solidFill>
                  <a:srgbClr val="172033"/>
                </a:solidFill>
              </a:rPr>
              <a:t>• 1000-sample waveform frames = 0.1 s of data</a:t>
            </a:r>
            <a:endParaRPr lang="en-US" sz="1270" dirty="0"/>
          </a:p>
          <a:p>
            <a:pPr marL="0" indent="0">
              <a:buNone/>
            </a:pPr>
            <a:r>
              <a:rPr lang="en-US" sz="1270" dirty="0">
                <a:solidFill>
                  <a:srgbClr val="172033"/>
                </a:solidFill>
              </a:rPr>
              <a:t>• Frequency-adaptive Goertzel targets harmonics 1–25</a:t>
            </a:r>
            <a:endParaRPr lang="en-US" sz="1270" dirty="0"/>
          </a:p>
          <a:p>
            <a:pPr marL="0" indent="0">
              <a:buNone/>
            </a:pPr>
            <a:r>
              <a:rPr lang="en-US" sz="1270" dirty="0">
                <a:solidFill>
                  <a:srgbClr val="172033"/>
                </a:solidFill>
              </a:rPr>
              <a:t>• Fixed-width / integer arithmetic to control FPGA cost</a:t>
            </a:r>
            <a:endParaRPr lang="en-US" sz="1270" dirty="0"/>
          </a:p>
          <a:p>
            <a:pPr marL="0" indent="0">
              <a:buNone/>
            </a:pPr>
            <a:r>
              <a:rPr lang="en-US" sz="1270" dirty="0">
                <a:solidFill>
                  <a:srgbClr val="172033"/>
                </a:solidFill>
              </a:rPr>
              <a:t>• Raw ADC data can be exported to CSV</a:t>
            </a:r>
            <a:endParaRPr lang="en-US" sz="1270" dirty="0"/>
          </a:p>
        </p:txBody>
      </p:sp>
      <p:sp>
        <p:nvSpPr>
          <p:cNvPr id="27" name="Shape 23"/>
          <p:cNvSpPr/>
          <p:nvPr/>
        </p:nvSpPr>
        <p:spPr>
          <a:xfrm>
            <a:off x="658368" y="5669280"/>
            <a:ext cx="1993392"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28" name="Shape 24"/>
          <p:cNvSpPr/>
          <p:nvPr/>
        </p:nvSpPr>
        <p:spPr>
          <a:xfrm>
            <a:off x="658368" y="5669280"/>
            <a:ext cx="64008" cy="658368"/>
          </a:xfrm>
          <a:prstGeom prst="rect">
            <a:avLst/>
          </a:prstGeom>
          <a:solidFill>
            <a:srgbClr val="2D78B7"/>
          </a:solidFill>
          <a:ln w="12700">
            <a:solidFill>
              <a:srgbClr val="2D78B7"/>
            </a:solidFill>
            <a:prstDash val="solid"/>
          </a:ln>
        </p:spPr>
        <p:txBody>
          <a:bodyPr/>
          <a:lstStyle/>
          <a:p>
            <a:endParaRPr/>
          </a:p>
        </p:txBody>
      </p:sp>
      <p:sp>
        <p:nvSpPr>
          <p:cNvPr id="29" name="Text 25"/>
          <p:cNvSpPr/>
          <p:nvPr/>
        </p:nvSpPr>
        <p:spPr>
          <a:xfrm>
            <a:off x="822960" y="5779008"/>
            <a:ext cx="173736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100 MHz</a:t>
            </a:r>
            <a:endParaRPr lang="en-US" sz="1700" dirty="0"/>
          </a:p>
        </p:txBody>
      </p:sp>
      <p:sp>
        <p:nvSpPr>
          <p:cNvPr id="30" name="Text 26"/>
          <p:cNvSpPr/>
          <p:nvPr/>
        </p:nvSpPr>
        <p:spPr>
          <a:xfrm>
            <a:off x="822960" y="6062472"/>
            <a:ext cx="173736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FPGA clock</a:t>
            </a:r>
            <a:endParaRPr lang="en-US" sz="850" dirty="0"/>
          </a:p>
        </p:txBody>
      </p:sp>
      <p:sp>
        <p:nvSpPr>
          <p:cNvPr id="31" name="Shape 27"/>
          <p:cNvSpPr/>
          <p:nvPr/>
        </p:nvSpPr>
        <p:spPr>
          <a:xfrm>
            <a:off x="2788920" y="5669280"/>
            <a:ext cx="1993392"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32" name="Shape 28"/>
          <p:cNvSpPr/>
          <p:nvPr/>
        </p:nvSpPr>
        <p:spPr>
          <a:xfrm>
            <a:off x="2788920" y="5669280"/>
            <a:ext cx="64008" cy="658368"/>
          </a:xfrm>
          <a:prstGeom prst="rect">
            <a:avLst/>
          </a:prstGeom>
          <a:solidFill>
            <a:srgbClr val="0E8A92"/>
          </a:solidFill>
          <a:ln w="12700">
            <a:solidFill>
              <a:srgbClr val="0E8A92"/>
            </a:solidFill>
            <a:prstDash val="solid"/>
          </a:ln>
        </p:spPr>
        <p:txBody>
          <a:bodyPr/>
          <a:lstStyle/>
          <a:p>
            <a:endParaRPr/>
          </a:p>
        </p:txBody>
      </p:sp>
      <p:sp>
        <p:nvSpPr>
          <p:cNvPr id="33" name="Text 29"/>
          <p:cNvSpPr/>
          <p:nvPr/>
        </p:nvSpPr>
        <p:spPr>
          <a:xfrm>
            <a:off x="2953512" y="5779008"/>
            <a:ext cx="173736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100 µs</a:t>
            </a:r>
            <a:endParaRPr lang="en-US" sz="1700" dirty="0"/>
          </a:p>
        </p:txBody>
      </p:sp>
      <p:sp>
        <p:nvSpPr>
          <p:cNvPr id="34" name="Text 30"/>
          <p:cNvSpPr/>
          <p:nvPr/>
        </p:nvSpPr>
        <p:spPr>
          <a:xfrm>
            <a:off x="2953512" y="6062472"/>
            <a:ext cx="173736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sample period</a:t>
            </a:r>
            <a:endParaRPr lang="en-US" sz="850" dirty="0"/>
          </a:p>
        </p:txBody>
      </p:sp>
      <p:sp>
        <p:nvSpPr>
          <p:cNvPr id="35" name="Shape 31"/>
          <p:cNvSpPr/>
          <p:nvPr/>
        </p:nvSpPr>
        <p:spPr>
          <a:xfrm>
            <a:off x="4919472" y="5669280"/>
            <a:ext cx="1993392"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36" name="Shape 32"/>
          <p:cNvSpPr/>
          <p:nvPr/>
        </p:nvSpPr>
        <p:spPr>
          <a:xfrm>
            <a:off x="4919472" y="5669280"/>
            <a:ext cx="64008" cy="658368"/>
          </a:xfrm>
          <a:prstGeom prst="rect">
            <a:avLst/>
          </a:prstGeom>
          <a:solidFill>
            <a:srgbClr val="E98B2A"/>
          </a:solidFill>
          <a:ln w="12700">
            <a:solidFill>
              <a:srgbClr val="E98B2A"/>
            </a:solidFill>
            <a:prstDash val="solid"/>
          </a:ln>
        </p:spPr>
        <p:txBody>
          <a:bodyPr/>
          <a:lstStyle/>
          <a:p>
            <a:endParaRPr/>
          </a:p>
        </p:txBody>
      </p:sp>
      <p:sp>
        <p:nvSpPr>
          <p:cNvPr id="37" name="Text 33"/>
          <p:cNvSpPr/>
          <p:nvPr/>
        </p:nvSpPr>
        <p:spPr>
          <a:xfrm>
            <a:off x="5084064" y="5779008"/>
            <a:ext cx="173736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1000 samples</a:t>
            </a:r>
            <a:endParaRPr lang="en-US" sz="1700" dirty="0"/>
          </a:p>
        </p:txBody>
      </p:sp>
      <p:sp>
        <p:nvSpPr>
          <p:cNvPr id="38" name="Text 34"/>
          <p:cNvSpPr/>
          <p:nvPr/>
        </p:nvSpPr>
        <p:spPr>
          <a:xfrm>
            <a:off x="5084064" y="6062472"/>
            <a:ext cx="173736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frame size</a:t>
            </a:r>
            <a:endParaRPr lang="en-US" sz="850" dirty="0"/>
          </a:p>
        </p:txBody>
      </p:sp>
      <p:sp>
        <p:nvSpPr>
          <p:cNvPr id="39" name="Shape 35"/>
          <p:cNvSpPr/>
          <p:nvPr/>
        </p:nvSpPr>
        <p:spPr>
          <a:xfrm>
            <a:off x="7050024" y="5669280"/>
            <a:ext cx="1993392"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40" name="Shape 36"/>
          <p:cNvSpPr/>
          <p:nvPr/>
        </p:nvSpPr>
        <p:spPr>
          <a:xfrm>
            <a:off x="7050024" y="5669280"/>
            <a:ext cx="64008" cy="658368"/>
          </a:xfrm>
          <a:prstGeom prst="rect">
            <a:avLst/>
          </a:prstGeom>
          <a:solidFill>
            <a:srgbClr val="26855B"/>
          </a:solidFill>
          <a:ln w="12700">
            <a:solidFill>
              <a:srgbClr val="26855B"/>
            </a:solidFill>
            <a:prstDash val="solid"/>
          </a:ln>
        </p:spPr>
        <p:txBody>
          <a:bodyPr/>
          <a:lstStyle/>
          <a:p>
            <a:endParaRPr/>
          </a:p>
        </p:txBody>
      </p:sp>
      <p:sp>
        <p:nvSpPr>
          <p:cNvPr id="41" name="Text 37"/>
          <p:cNvSpPr/>
          <p:nvPr/>
        </p:nvSpPr>
        <p:spPr>
          <a:xfrm>
            <a:off x="7214616" y="5779008"/>
            <a:ext cx="173736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AA56 v2</a:t>
            </a:r>
            <a:endParaRPr lang="en-US" sz="1700" dirty="0"/>
          </a:p>
        </p:txBody>
      </p:sp>
      <p:sp>
        <p:nvSpPr>
          <p:cNvPr id="42" name="Text 38"/>
          <p:cNvSpPr/>
          <p:nvPr/>
        </p:nvSpPr>
        <p:spPr>
          <a:xfrm>
            <a:off x="7214616" y="6062472"/>
            <a:ext cx="173736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packet build</a:t>
            </a:r>
            <a:endParaRPr lang="en-US" sz="850" dirty="0"/>
          </a:p>
        </p:txBody>
      </p:sp>
      <p:sp>
        <p:nvSpPr>
          <p:cNvPr id="43" name="Shape 39"/>
          <p:cNvSpPr/>
          <p:nvPr/>
        </p:nvSpPr>
        <p:spPr>
          <a:xfrm>
            <a:off x="9180576" y="5669280"/>
            <a:ext cx="1993392"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44" name="Shape 40"/>
          <p:cNvSpPr/>
          <p:nvPr/>
        </p:nvSpPr>
        <p:spPr>
          <a:xfrm>
            <a:off x="9180576" y="5669280"/>
            <a:ext cx="64008" cy="658368"/>
          </a:xfrm>
          <a:prstGeom prst="rect">
            <a:avLst/>
          </a:prstGeom>
          <a:solidFill>
            <a:srgbClr val="2D78B7"/>
          </a:solidFill>
          <a:ln w="12700">
            <a:solidFill>
              <a:srgbClr val="2D78B7"/>
            </a:solidFill>
            <a:prstDash val="solid"/>
          </a:ln>
        </p:spPr>
        <p:txBody>
          <a:bodyPr/>
          <a:lstStyle/>
          <a:p>
            <a:endParaRPr/>
          </a:p>
        </p:txBody>
      </p:sp>
      <p:sp>
        <p:nvSpPr>
          <p:cNvPr id="45" name="Text 41"/>
          <p:cNvSpPr/>
          <p:nvPr/>
        </p:nvSpPr>
        <p:spPr>
          <a:xfrm>
            <a:off x="9345168" y="5779008"/>
            <a:ext cx="173736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115200 baud</a:t>
            </a:r>
            <a:endParaRPr lang="en-US" sz="1700" dirty="0"/>
          </a:p>
        </p:txBody>
      </p:sp>
      <p:sp>
        <p:nvSpPr>
          <p:cNvPr id="46" name="Text 42"/>
          <p:cNvSpPr/>
          <p:nvPr/>
        </p:nvSpPr>
        <p:spPr>
          <a:xfrm>
            <a:off x="9345168" y="6062472"/>
            <a:ext cx="173736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host link</a:t>
            </a:r>
            <a:endParaRPr lang="en-US" sz="850" dirty="0"/>
          </a:p>
        </p:txBody>
      </p:sp>
      <p:sp>
        <p:nvSpPr>
          <p:cNvPr id="47"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0040"/>
            <a:ext cx="3657600" cy="201168"/>
          </a:xfrm>
          <a:prstGeom prst="rect">
            <a:avLst/>
          </a:prstGeom>
          <a:noFill/>
          <a:ln/>
        </p:spPr>
        <p:txBody>
          <a:bodyPr wrap="square" lIns="0" tIns="0" rIns="0" bIns="0" rtlCol="0" anchor="ctr"/>
          <a:lstStyle/>
          <a:p>
            <a:pPr marL="0" indent="0">
              <a:buNone/>
            </a:pPr>
            <a:r>
              <a:rPr lang="en-US" sz="1000" b="1" kern="0" spc="110" dirty="0">
                <a:solidFill>
                  <a:srgbClr val="2D78B7"/>
                </a:solidFill>
              </a:rPr>
              <a:t>HOW I TESTED IT</a:t>
            </a:r>
            <a:endParaRPr lang="en-US" sz="1000" dirty="0"/>
          </a:p>
        </p:txBody>
      </p:sp>
      <p:sp>
        <p:nvSpPr>
          <p:cNvPr id="3" name="Text 1"/>
          <p:cNvSpPr/>
          <p:nvPr/>
        </p:nvSpPr>
        <p:spPr>
          <a:xfrm>
            <a:off x="566928" y="585216"/>
            <a:ext cx="10972800" cy="502920"/>
          </a:xfrm>
          <a:prstGeom prst="rect">
            <a:avLst/>
          </a:prstGeom>
          <a:noFill/>
          <a:ln/>
        </p:spPr>
        <p:txBody>
          <a:bodyPr wrap="square" lIns="0" tIns="0" rIns="0" bIns="0" rtlCol="0" anchor="ctr"/>
          <a:lstStyle/>
          <a:p>
            <a:pPr marL="0" indent="0">
              <a:buNone/>
            </a:pPr>
            <a:r>
              <a:rPr lang="en-US" sz="2600" b="1" dirty="0">
                <a:solidFill>
                  <a:srgbClr val="172033"/>
                </a:solidFill>
              </a:rPr>
              <a:t>Experimental method</a:t>
            </a:r>
            <a:endParaRPr lang="en-US" sz="2600" dirty="0"/>
          </a:p>
        </p:txBody>
      </p:sp>
      <p:sp>
        <p:nvSpPr>
          <p:cNvPr id="4" name="Shape 2"/>
          <p:cNvSpPr/>
          <p:nvPr/>
        </p:nvSpPr>
        <p:spPr>
          <a:xfrm>
            <a:off x="640080" y="1261872"/>
            <a:ext cx="5468112" cy="4416552"/>
          </a:xfrm>
          <a:prstGeom prst="roundRect">
            <a:avLst>
              <a:gd name="adj" fmla="val 1656"/>
            </a:avLst>
          </a:prstGeom>
          <a:solidFill>
            <a:srgbClr val="FFFFFF"/>
          </a:solidFill>
          <a:ln w="12700">
            <a:solidFill>
              <a:srgbClr val="D9E2EC"/>
            </a:solidFill>
            <a:prstDash val="solid"/>
          </a:ln>
          <a:effectLst>
            <a:outerShdw algn="bl" rotWithShape="0">
              <a:srgbClr val="000000">
                <a:alpha val="0"/>
              </a:srgbClr>
            </a:outerShdw>
          </a:effectLst>
        </p:spPr>
        <p:txBody>
          <a:bodyPr/>
          <a:lstStyle/>
          <a:p>
            <a:endParaRPr/>
          </a:p>
        </p:txBody>
      </p:sp>
      <p:sp>
        <p:nvSpPr>
          <p:cNvPr id="5" name="Shape 3"/>
          <p:cNvSpPr/>
          <p:nvPr/>
        </p:nvSpPr>
        <p:spPr>
          <a:xfrm>
            <a:off x="6355080" y="1261872"/>
            <a:ext cx="5193792" cy="4416552"/>
          </a:xfrm>
          <a:prstGeom prst="roundRect">
            <a:avLst>
              <a:gd name="adj" fmla="val 1656"/>
            </a:avLst>
          </a:prstGeom>
          <a:solidFill>
            <a:srgbClr val="FFFFFF"/>
          </a:solidFill>
          <a:ln w="12700">
            <a:solidFill>
              <a:srgbClr val="D9E2EC"/>
            </a:solidFill>
            <a:prstDash val="solid"/>
          </a:ln>
          <a:effectLst>
            <a:outerShdw algn="bl" rotWithShape="0">
              <a:srgbClr val="000000">
                <a:alpha val="0"/>
              </a:srgbClr>
            </a:outerShdw>
          </a:effectLst>
        </p:spPr>
        <p:txBody>
          <a:bodyPr/>
          <a:lstStyle/>
          <a:p>
            <a:endParaRPr/>
          </a:p>
        </p:txBody>
      </p:sp>
      <p:sp>
        <p:nvSpPr>
          <p:cNvPr id="6" name="Text 4"/>
          <p:cNvSpPr/>
          <p:nvPr/>
        </p:nvSpPr>
        <p:spPr>
          <a:xfrm>
            <a:off x="896112" y="1499616"/>
            <a:ext cx="2011680" cy="274320"/>
          </a:xfrm>
          <a:prstGeom prst="rect">
            <a:avLst/>
          </a:prstGeom>
          <a:noFill/>
          <a:ln/>
        </p:spPr>
        <p:txBody>
          <a:bodyPr wrap="square" lIns="0" tIns="0" rIns="0" bIns="0" rtlCol="0" anchor="ctr"/>
          <a:lstStyle/>
          <a:p>
            <a:pPr marL="0" indent="0">
              <a:buNone/>
            </a:pPr>
            <a:r>
              <a:rPr lang="en-US" sz="1700" b="1" dirty="0">
                <a:solidFill>
                  <a:srgbClr val="2D78B7"/>
                </a:solidFill>
              </a:rPr>
              <a:t>Voltage channel</a:t>
            </a:r>
            <a:endParaRPr lang="en-US" sz="1700" dirty="0"/>
          </a:p>
        </p:txBody>
      </p:sp>
      <p:sp>
        <p:nvSpPr>
          <p:cNvPr id="7" name="Text 5"/>
          <p:cNvSpPr/>
          <p:nvPr/>
        </p:nvSpPr>
        <p:spPr>
          <a:xfrm>
            <a:off x="6611112" y="1499616"/>
            <a:ext cx="2011680" cy="274320"/>
          </a:xfrm>
          <a:prstGeom prst="rect">
            <a:avLst/>
          </a:prstGeom>
          <a:noFill/>
          <a:ln/>
        </p:spPr>
        <p:txBody>
          <a:bodyPr wrap="square" lIns="0" tIns="0" rIns="0" bIns="0" rtlCol="0" anchor="ctr"/>
          <a:lstStyle/>
          <a:p>
            <a:pPr marL="0" indent="0">
              <a:buNone/>
            </a:pPr>
            <a:r>
              <a:rPr lang="en-US" sz="1700" b="1" dirty="0">
                <a:solidFill>
                  <a:srgbClr val="0E8A92"/>
                </a:solidFill>
              </a:rPr>
              <a:t>Current channel</a:t>
            </a:r>
            <a:endParaRPr lang="en-US" sz="1700" dirty="0"/>
          </a:p>
        </p:txBody>
      </p:sp>
      <p:pic>
        <p:nvPicPr>
          <p:cNvPr id="8" name="Image 0" descr="/mnt/data/dissertation_media/word/media/image3.jpeg"/>
          <p:cNvPicPr>
            <a:picLocks noChangeAspect="1"/>
          </p:cNvPicPr>
          <p:nvPr/>
        </p:nvPicPr>
        <p:blipFill>
          <a:blip r:embed="rId3"/>
          <a:srcRect t="8753" b="8753"/>
          <a:stretch/>
        </p:blipFill>
        <p:spPr>
          <a:xfrm>
            <a:off x="896112" y="1874520"/>
            <a:ext cx="2542032" cy="1572768"/>
          </a:xfrm>
          <a:prstGeom prst="rect">
            <a:avLst/>
          </a:prstGeom>
        </p:spPr>
      </p:pic>
      <p:pic>
        <p:nvPicPr>
          <p:cNvPr id="9" name="Image 1" descr="/mnt/data/dissertation_media/word/media/image4.jpeg"/>
          <p:cNvPicPr>
            <a:picLocks noChangeAspect="1"/>
          </p:cNvPicPr>
          <p:nvPr/>
        </p:nvPicPr>
        <p:blipFill>
          <a:blip r:embed="rId4"/>
          <a:srcRect t="5897" b="5897"/>
          <a:stretch/>
        </p:blipFill>
        <p:spPr>
          <a:xfrm>
            <a:off x="6611112" y="1874520"/>
            <a:ext cx="2377440" cy="1572768"/>
          </a:xfrm>
          <a:prstGeom prst="rect">
            <a:avLst/>
          </a:prstGeom>
        </p:spPr>
      </p:pic>
      <p:sp>
        <p:nvSpPr>
          <p:cNvPr id="10" name="Text 6"/>
          <p:cNvSpPr/>
          <p:nvPr/>
        </p:nvSpPr>
        <p:spPr>
          <a:xfrm>
            <a:off x="3639312" y="1874520"/>
            <a:ext cx="1508760" cy="201168"/>
          </a:xfrm>
          <a:prstGeom prst="rect">
            <a:avLst/>
          </a:prstGeom>
          <a:noFill/>
          <a:ln/>
        </p:spPr>
        <p:txBody>
          <a:bodyPr wrap="square" lIns="0" tIns="0" rIns="0" bIns="0" rtlCol="0" anchor="ctr"/>
          <a:lstStyle/>
          <a:p>
            <a:pPr marL="0" indent="0">
              <a:buNone/>
            </a:pPr>
            <a:r>
              <a:rPr lang="en-US" sz="1000" b="1" dirty="0">
                <a:solidFill>
                  <a:srgbClr val="5F6B7A"/>
                </a:solidFill>
              </a:rPr>
              <a:t>Input / reference</a:t>
            </a:r>
            <a:endParaRPr lang="en-US" sz="1000" dirty="0"/>
          </a:p>
        </p:txBody>
      </p:sp>
      <p:sp>
        <p:nvSpPr>
          <p:cNvPr id="11" name="Text 7"/>
          <p:cNvSpPr/>
          <p:nvPr/>
        </p:nvSpPr>
        <p:spPr>
          <a:xfrm>
            <a:off x="3639312" y="2139696"/>
            <a:ext cx="2057400" cy="868680"/>
          </a:xfrm>
          <a:prstGeom prst="rect">
            <a:avLst/>
          </a:prstGeom>
          <a:noFill/>
          <a:ln/>
        </p:spPr>
        <p:txBody>
          <a:bodyPr wrap="square" lIns="0" tIns="0" rIns="0" bIns="0" rtlCol="0" anchor="ctr">
            <a:normAutofit/>
          </a:bodyPr>
          <a:lstStyle/>
          <a:p>
            <a:pPr marL="0" indent="0">
              <a:buNone/>
            </a:pPr>
            <a:r>
              <a:rPr lang="en-US" sz="1180" dirty="0">
                <a:solidFill>
                  <a:srgbClr val="172033"/>
                </a:solidFill>
              </a:rPr>
              <a:t>Signal generator + Tektronix TBS1052B-EDU with P2200 probe at 10×</a:t>
            </a:r>
            <a:endParaRPr lang="en-US" sz="1180" dirty="0"/>
          </a:p>
        </p:txBody>
      </p:sp>
      <p:sp>
        <p:nvSpPr>
          <p:cNvPr id="12" name="Text 8"/>
          <p:cNvSpPr/>
          <p:nvPr/>
        </p:nvSpPr>
        <p:spPr>
          <a:xfrm>
            <a:off x="9198864" y="1874520"/>
            <a:ext cx="1508760" cy="201168"/>
          </a:xfrm>
          <a:prstGeom prst="rect">
            <a:avLst/>
          </a:prstGeom>
          <a:noFill/>
          <a:ln/>
        </p:spPr>
        <p:txBody>
          <a:bodyPr wrap="square" lIns="0" tIns="0" rIns="0" bIns="0" rtlCol="0" anchor="ctr"/>
          <a:lstStyle/>
          <a:p>
            <a:pPr marL="0" indent="0">
              <a:buNone/>
            </a:pPr>
            <a:r>
              <a:rPr lang="en-US" sz="1000" b="1" dirty="0">
                <a:solidFill>
                  <a:srgbClr val="5F6B7A"/>
                </a:solidFill>
              </a:rPr>
              <a:t>Input / reference</a:t>
            </a:r>
            <a:endParaRPr lang="en-US" sz="1000" dirty="0"/>
          </a:p>
        </p:txBody>
      </p:sp>
      <p:sp>
        <p:nvSpPr>
          <p:cNvPr id="13" name="Text 9"/>
          <p:cNvSpPr/>
          <p:nvPr/>
        </p:nvSpPr>
        <p:spPr>
          <a:xfrm>
            <a:off x="9198864" y="2139696"/>
            <a:ext cx="1993392" cy="868680"/>
          </a:xfrm>
          <a:prstGeom prst="rect">
            <a:avLst/>
          </a:prstGeom>
          <a:noFill/>
          <a:ln/>
        </p:spPr>
        <p:txBody>
          <a:bodyPr wrap="square" lIns="0" tIns="0" rIns="0" bIns="0" rtlCol="0" anchor="ctr">
            <a:normAutofit/>
          </a:bodyPr>
          <a:lstStyle/>
          <a:p>
            <a:pPr marL="0" indent="0">
              <a:buNone/>
            </a:pPr>
            <a:r>
              <a:rPr lang="en-US" sz="1180" dirty="0">
                <a:solidFill>
                  <a:srgbClr val="172033"/>
                </a:solidFill>
              </a:rPr>
              <a:t>DC bench supply + resistive load + Duratool D03124 multimeter on 10 A range</a:t>
            </a:r>
            <a:endParaRPr lang="en-US" sz="1180" dirty="0"/>
          </a:p>
        </p:txBody>
      </p:sp>
      <p:sp>
        <p:nvSpPr>
          <p:cNvPr id="14" name="Shape 10"/>
          <p:cNvSpPr/>
          <p:nvPr/>
        </p:nvSpPr>
        <p:spPr>
          <a:xfrm>
            <a:off x="914400" y="3703320"/>
            <a:ext cx="4800600" cy="0"/>
          </a:xfrm>
          <a:prstGeom prst="line">
            <a:avLst/>
          </a:prstGeom>
          <a:noFill/>
          <a:ln w="12700">
            <a:solidFill>
              <a:srgbClr val="D9E2EC"/>
            </a:solidFill>
            <a:prstDash val="solid"/>
          </a:ln>
        </p:spPr>
        <p:txBody>
          <a:bodyPr/>
          <a:lstStyle/>
          <a:p>
            <a:endParaRPr/>
          </a:p>
        </p:txBody>
      </p:sp>
      <p:sp>
        <p:nvSpPr>
          <p:cNvPr id="15" name="Shape 11"/>
          <p:cNvSpPr/>
          <p:nvPr/>
        </p:nvSpPr>
        <p:spPr>
          <a:xfrm>
            <a:off x="6629400" y="3703320"/>
            <a:ext cx="4507992" cy="0"/>
          </a:xfrm>
          <a:prstGeom prst="line">
            <a:avLst/>
          </a:prstGeom>
          <a:noFill/>
          <a:ln w="12700">
            <a:solidFill>
              <a:srgbClr val="D9E2EC"/>
            </a:solidFill>
            <a:prstDash val="solid"/>
          </a:ln>
        </p:spPr>
        <p:txBody>
          <a:bodyPr/>
          <a:lstStyle/>
          <a:p>
            <a:endParaRPr/>
          </a:p>
        </p:txBody>
      </p:sp>
      <p:sp>
        <p:nvSpPr>
          <p:cNvPr id="16" name="Text 12"/>
          <p:cNvSpPr/>
          <p:nvPr/>
        </p:nvSpPr>
        <p:spPr>
          <a:xfrm>
            <a:off x="914400" y="3904488"/>
            <a:ext cx="1371600" cy="201168"/>
          </a:xfrm>
          <a:prstGeom prst="rect">
            <a:avLst/>
          </a:prstGeom>
          <a:noFill/>
          <a:ln/>
        </p:spPr>
        <p:txBody>
          <a:bodyPr wrap="square" lIns="0" tIns="0" rIns="0" bIns="0" rtlCol="0" anchor="ctr"/>
          <a:lstStyle/>
          <a:p>
            <a:pPr marL="0" indent="0">
              <a:buNone/>
            </a:pPr>
            <a:r>
              <a:rPr lang="en-US" sz="1000" b="1" dirty="0">
                <a:solidFill>
                  <a:srgbClr val="5F6B7A"/>
                </a:solidFill>
              </a:rPr>
              <a:t>What it supports</a:t>
            </a:r>
            <a:endParaRPr lang="en-US" sz="1000" dirty="0"/>
          </a:p>
        </p:txBody>
      </p:sp>
      <p:sp>
        <p:nvSpPr>
          <p:cNvPr id="17" name="Text 13"/>
          <p:cNvSpPr/>
          <p:nvPr/>
        </p:nvSpPr>
        <p:spPr>
          <a:xfrm>
            <a:off x="914400" y="4160520"/>
            <a:ext cx="4553712" cy="1078992"/>
          </a:xfrm>
          <a:prstGeom prst="rect">
            <a:avLst/>
          </a:prstGeom>
          <a:noFill/>
          <a:ln/>
        </p:spPr>
        <p:txBody>
          <a:bodyPr wrap="square" lIns="0" tIns="0" rIns="0" bIns="0" rtlCol="0" anchor="ctr">
            <a:normAutofit/>
          </a:bodyPr>
          <a:lstStyle/>
          <a:p>
            <a:pPr marL="0" indent="0">
              <a:buNone/>
            </a:pPr>
            <a:r>
              <a:rPr lang="en-US" sz="1160" dirty="0">
                <a:solidFill>
                  <a:srgbClr val="172033"/>
                </a:solidFill>
              </a:rPr>
              <a:t>• RMS validation at 3 low-voltage levels</a:t>
            </a:r>
            <a:endParaRPr lang="en-US" sz="1160" dirty="0"/>
          </a:p>
          <a:p>
            <a:pPr marL="0" indent="0">
              <a:buNone/>
            </a:pPr>
            <a:r>
              <a:rPr lang="en-US" sz="1160" dirty="0">
                <a:solidFill>
                  <a:srgbClr val="172033"/>
                </a:solidFill>
              </a:rPr>
              <a:t>• Frequency operation</a:t>
            </a:r>
            <a:endParaRPr lang="en-US" sz="1160" dirty="0"/>
          </a:p>
          <a:p>
            <a:pPr marL="0" indent="0">
              <a:buNone/>
            </a:pPr>
            <a:r>
              <a:rPr lang="en-US" sz="1160" dirty="0">
                <a:solidFill>
                  <a:srgbClr val="172033"/>
                </a:solidFill>
              </a:rPr>
              <a:t>• Physical sag/swell detection</a:t>
            </a:r>
            <a:endParaRPr lang="en-US" sz="1160" dirty="0"/>
          </a:p>
          <a:p>
            <a:pPr marL="0" indent="0">
              <a:buNone/>
            </a:pPr>
            <a:r>
              <a:rPr lang="en-US" sz="1160" dirty="0">
                <a:solidFill>
                  <a:srgbClr val="172033"/>
                </a:solidFill>
              </a:rPr>
              <a:t>• THD behaviour, but no matched independent THD reference</a:t>
            </a:r>
            <a:endParaRPr lang="en-US" sz="1160" dirty="0"/>
          </a:p>
        </p:txBody>
      </p:sp>
      <p:sp>
        <p:nvSpPr>
          <p:cNvPr id="18" name="Text 14"/>
          <p:cNvSpPr/>
          <p:nvPr/>
        </p:nvSpPr>
        <p:spPr>
          <a:xfrm>
            <a:off x="6629400" y="3904488"/>
            <a:ext cx="1371600" cy="201168"/>
          </a:xfrm>
          <a:prstGeom prst="rect">
            <a:avLst/>
          </a:prstGeom>
          <a:noFill/>
          <a:ln/>
        </p:spPr>
        <p:txBody>
          <a:bodyPr wrap="square" lIns="0" tIns="0" rIns="0" bIns="0" rtlCol="0" anchor="ctr"/>
          <a:lstStyle/>
          <a:p>
            <a:pPr marL="0" indent="0">
              <a:buNone/>
            </a:pPr>
            <a:r>
              <a:rPr lang="en-US" sz="1000" b="1" dirty="0">
                <a:solidFill>
                  <a:srgbClr val="5F6B7A"/>
                </a:solidFill>
              </a:rPr>
              <a:t>What it supports</a:t>
            </a:r>
            <a:endParaRPr lang="en-US" sz="1000" dirty="0"/>
          </a:p>
        </p:txBody>
      </p:sp>
      <p:sp>
        <p:nvSpPr>
          <p:cNvPr id="19" name="Text 15"/>
          <p:cNvSpPr/>
          <p:nvPr/>
        </p:nvSpPr>
        <p:spPr>
          <a:xfrm>
            <a:off x="6629400" y="4160520"/>
            <a:ext cx="4434840" cy="1078992"/>
          </a:xfrm>
          <a:prstGeom prst="rect">
            <a:avLst/>
          </a:prstGeom>
          <a:noFill/>
          <a:ln/>
        </p:spPr>
        <p:txBody>
          <a:bodyPr wrap="square" lIns="0" tIns="0" rIns="0" bIns="0" rtlCol="0" anchor="ctr">
            <a:normAutofit/>
          </a:bodyPr>
          <a:lstStyle/>
          <a:p>
            <a:pPr marL="0" indent="0">
              <a:buNone/>
            </a:pPr>
            <a:r>
              <a:rPr lang="en-US" sz="1160" dirty="0">
                <a:solidFill>
                  <a:srgbClr val="172033"/>
                </a:solidFill>
              </a:rPr>
              <a:t>• Zero-input offset and static sensitivity</a:t>
            </a:r>
            <a:endParaRPr lang="en-US" sz="1160" dirty="0"/>
          </a:p>
          <a:p>
            <a:pPr marL="0" indent="0">
              <a:buNone/>
            </a:pPr>
            <a:r>
              <a:rPr lang="en-US" sz="1160" dirty="0">
                <a:solidFill>
                  <a:srgbClr val="172033"/>
                </a:solidFill>
              </a:rPr>
              <a:t>• DC calibration over 0–0.46 A</a:t>
            </a:r>
            <a:endParaRPr lang="en-US" sz="1160" dirty="0"/>
          </a:p>
          <a:p>
            <a:pPr marL="0" indent="0">
              <a:buNone/>
            </a:pPr>
            <a:r>
              <a:rPr lang="en-US" sz="1160" dirty="0">
                <a:solidFill>
                  <a:srgbClr val="172033"/>
                </a:solidFill>
              </a:rPr>
              <a:t>• Linearity and repeatability</a:t>
            </a:r>
            <a:endParaRPr lang="en-US" sz="1160" dirty="0"/>
          </a:p>
          <a:p>
            <a:pPr marL="0" indent="0">
              <a:buNone/>
            </a:pPr>
            <a:r>
              <a:rPr lang="en-US" sz="1160" dirty="0">
                <a:solidFill>
                  <a:srgbClr val="172033"/>
                </a:solidFill>
              </a:rPr>
              <a:t>• Not AC current, phase or harmonic validation</a:t>
            </a:r>
            <a:endParaRPr lang="en-US" sz="1160" dirty="0"/>
          </a:p>
        </p:txBody>
      </p:sp>
      <p:sp>
        <p:nvSpPr>
          <p:cNvPr id="20" name="Shape 16"/>
          <p:cNvSpPr/>
          <p:nvPr/>
        </p:nvSpPr>
        <p:spPr>
          <a:xfrm>
            <a:off x="1051560" y="5843016"/>
            <a:ext cx="10149840" cy="457200"/>
          </a:xfrm>
          <a:prstGeom prst="roundRect">
            <a:avLst/>
          </a:prstGeom>
          <a:solidFill>
            <a:srgbClr val="FFF3E5"/>
          </a:solidFill>
          <a:ln w="12700">
            <a:solidFill>
              <a:srgbClr val="F1D7B7"/>
            </a:solidFill>
            <a:prstDash val="solid"/>
          </a:ln>
        </p:spPr>
        <p:txBody>
          <a:bodyPr/>
          <a:lstStyle/>
          <a:p>
            <a:endParaRPr/>
          </a:p>
        </p:txBody>
      </p:sp>
      <p:sp>
        <p:nvSpPr>
          <p:cNvPr id="21" name="Text 17"/>
          <p:cNvSpPr/>
          <p:nvPr/>
        </p:nvSpPr>
        <p:spPr>
          <a:xfrm>
            <a:off x="1298448" y="5943600"/>
            <a:ext cx="9646920" cy="210312"/>
          </a:xfrm>
          <a:prstGeom prst="rect">
            <a:avLst/>
          </a:prstGeom>
          <a:noFill/>
          <a:ln/>
        </p:spPr>
        <p:txBody>
          <a:bodyPr wrap="square" lIns="0" tIns="0" rIns="0" bIns="0" rtlCol="0" anchor="ctr">
            <a:normAutofit fontScale="77500" lnSpcReduction="20000"/>
          </a:bodyPr>
          <a:lstStyle/>
          <a:p>
            <a:pPr marL="0" indent="0" algn="ctr">
              <a:buNone/>
            </a:pPr>
            <a:r>
              <a:rPr lang="en-US" sz="1150" b="1" dirty="0">
                <a:solidFill>
                  <a:srgbClr val="8A541A"/>
                </a:solidFill>
              </a:rPr>
              <a:t>Important scope decision: the channels were tested separately because no suitable isolated variable AC source was available. These were not simultaneous AC-load measurements.</a:t>
            </a:r>
            <a:endParaRPr lang="en-US" sz="1150" dirty="0"/>
          </a:p>
        </p:txBody>
      </p:sp>
      <p:sp>
        <p:nvSpPr>
          <p:cNvPr id="25"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0040"/>
            <a:ext cx="3657600" cy="201168"/>
          </a:xfrm>
          <a:prstGeom prst="rect">
            <a:avLst/>
          </a:prstGeom>
          <a:noFill/>
          <a:ln/>
        </p:spPr>
        <p:txBody>
          <a:bodyPr wrap="square" lIns="0" tIns="0" rIns="0" bIns="0" rtlCol="0" anchor="ctr"/>
          <a:lstStyle/>
          <a:p>
            <a:pPr marL="0" indent="0">
              <a:buNone/>
            </a:pPr>
            <a:r>
              <a:rPr lang="en-US" sz="1000" b="1" kern="0" spc="110" dirty="0">
                <a:solidFill>
                  <a:srgbClr val="2D78B7"/>
                </a:solidFill>
              </a:rPr>
              <a:t>WHAT THE DATA SHOWED</a:t>
            </a:r>
            <a:endParaRPr lang="en-US" sz="1000" dirty="0"/>
          </a:p>
        </p:txBody>
      </p:sp>
      <p:sp>
        <p:nvSpPr>
          <p:cNvPr id="3" name="Text 1"/>
          <p:cNvSpPr/>
          <p:nvPr/>
        </p:nvSpPr>
        <p:spPr>
          <a:xfrm>
            <a:off x="566928" y="585216"/>
            <a:ext cx="10972800" cy="502920"/>
          </a:xfrm>
          <a:prstGeom prst="rect">
            <a:avLst/>
          </a:prstGeom>
          <a:noFill/>
          <a:ln/>
        </p:spPr>
        <p:txBody>
          <a:bodyPr wrap="square" lIns="0" tIns="0" rIns="0" bIns="0" rtlCol="0" anchor="ctr"/>
          <a:lstStyle/>
          <a:p>
            <a:pPr marL="0" indent="0">
              <a:buNone/>
            </a:pPr>
            <a:r>
              <a:rPr lang="en-US" sz="2600" b="1" dirty="0">
                <a:solidFill>
                  <a:srgbClr val="172033"/>
                </a:solidFill>
              </a:rPr>
              <a:t>Key results</a:t>
            </a:r>
            <a:endParaRPr lang="en-US" sz="2600" dirty="0"/>
          </a:p>
        </p:txBody>
      </p:sp>
      <p:sp>
        <p:nvSpPr>
          <p:cNvPr id="4" name="Shape 2"/>
          <p:cNvSpPr/>
          <p:nvPr/>
        </p:nvSpPr>
        <p:spPr>
          <a:xfrm>
            <a:off x="594360" y="1216152"/>
            <a:ext cx="5596128" cy="4343400"/>
          </a:xfrm>
          <a:prstGeom prst="roundRect">
            <a:avLst>
              <a:gd name="adj" fmla="val 1684"/>
            </a:avLst>
          </a:prstGeom>
          <a:solidFill>
            <a:srgbClr val="FFFFFF"/>
          </a:solidFill>
          <a:ln w="12700">
            <a:solidFill>
              <a:srgbClr val="D9E2EC"/>
            </a:solidFill>
            <a:prstDash val="solid"/>
          </a:ln>
          <a:effectLst>
            <a:outerShdw algn="bl" rotWithShape="0">
              <a:srgbClr val="000000">
                <a:alpha val="0"/>
              </a:srgbClr>
            </a:outerShdw>
          </a:effectLst>
        </p:spPr>
        <p:txBody>
          <a:bodyPr/>
          <a:lstStyle/>
          <a:p>
            <a:endParaRPr/>
          </a:p>
        </p:txBody>
      </p:sp>
      <p:sp>
        <p:nvSpPr>
          <p:cNvPr id="5" name="Text 3"/>
          <p:cNvSpPr/>
          <p:nvPr/>
        </p:nvSpPr>
        <p:spPr>
          <a:xfrm>
            <a:off x="850392" y="1463040"/>
            <a:ext cx="2377440" cy="256032"/>
          </a:xfrm>
          <a:prstGeom prst="rect">
            <a:avLst/>
          </a:prstGeom>
          <a:noFill/>
          <a:ln/>
        </p:spPr>
        <p:txBody>
          <a:bodyPr wrap="square" lIns="0" tIns="0" rIns="0" bIns="0" rtlCol="0" anchor="ctr"/>
          <a:lstStyle/>
          <a:p>
            <a:pPr marL="0" indent="0">
              <a:buNone/>
            </a:pPr>
            <a:r>
              <a:rPr lang="en-US" sz="1600" b="1" dirty="0">
                <a:solidFill>
                  <a:srgbClr val="2D78B7"/>
                </a:solidFill>
              </a:rPr>
              <a:t>Voltage RMS validation</a:t>
            </a:r>
            <a:endParaRPr lang="en-US" sz="1600" dirty="0"/>
          </a:p>
        </p:txBody>
      </p:sp>
      <p:pic>
        <p:nvPicPr>
          <p:cNvPr id="6" name="Image 0" descr="/mnt/data/dissertation_media/word/media/image17.png"/>
          <p:cNvPicPr>
            <a:picLocks noChangeAspect="1"/>
          </p:cNvPicPr>
          <p:nvPr/>
        </p:nvPicPr>
        <p:blipFill>
          <a:blip r:embed="rId3"/>
          <a:stretch>
            <a:fillRect/>
          </a:stretch>
        </p:blipFill>
        <p:spPr>
          <a:xfrm>
            <a:off x="1641255" y="1810512"/>
            <a:ext cx="3502339" cy="2487168"/>
          </a:xfrm>
          <a:prstGeom prst="rect">
            <a:avLst/>
          </a:prstGeom>
        </p:spPr>
      </p:pic>
      <p:sp>
        <p:nvSpPr>
          <p:cNvPr id="7" name="Shape 4"/>
          <p:cNvSpPr/>
          <p:nvPr/>
        </p:nvSpPr>
        <p:spPr>
          <a:xfrm>
            <a:off x="868680" y="4462272"/>
            <a:ext cx="1444752" cy="658368"/>
          </a:xfrm>
          <a:prstGeom prst="roundRect">
            <a:avLst>
              <a:gd name="adj" fmla="val 11111"/>
            </a:avLst>
          </a:prstGeom>
          <a:solidFill>
            <a:srgbClr val="EAF6F0"/>
          </a:solidFill>
          <a:ln w="12700">
            <a:solidFill>
              <a:srgbClr val="D8E2EC"/>
            </a:solidFill>
            <a:prstDash val="solid"/>
          </a:ln>
          <a:effectLst>
            <a:outerShdw algn="bl" rotWithShape="0">
              <a:srgbClr val="000000">
                <a:alpha val="0"/>
              </a:srgbClr>
            </a:outerShdw>
          </a:effectLst>
        </p:spPr>
        <p:txBody>
          <a:bodyPr/>
          <a:lstStyle/>
          <a:p>
            <a:endParaRPr/>
          </a:p>
        </p:txBody>
      </p:sp>
      <p:sp>
        <p:nvSpPr>
          <p:cNvPr id="8" name="Shape 5"/>
          <p:cNvSpPr/>
          <p:nvPr/>
        </p:nvSpPr>
        <p:spPr>
          <a:xfrm>
            <a:off x="868680" y="4462272"/>
            <a:ext cx="64008" cy="658368"/>
          </a:xfrm>
          <a:prstGeom prst="rect">
            <a:avLst/>
          </a:prstGeom>
          <a:solidFill>
            <a:srgbClr val="26855B"/>
          </a:solidFill>
          <a:ln w="12700">
            <a:solidFill>
              <a:srgbClr val="26855B"/>
            </a:solidFill>
            <a:prstDash val="solid"/>
          </a:ln>
        </p:spPr>
        <p:txBody>
          <a:bodyPr/>
          <a:lstStyle/>
          <a:p>
            <a:endParaRPr/>
          </a:p>
        </p:txBody>
      </p:sp>
      <p:sp>
        <p:nvSpPr>
          <p:cNvPr id="9" name="Text 6"/>
          <p:cNvSpPr/>
          <p:nvPr/>
        </p:nvSpPr>
        <p:spPr>
          <a:xfrm>
            <a:off x="1033272" y="4572000"/>
            <a:ext cx="118872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−0.90%</a:t>
            </a:r>
            <a:endParaRPr lang="en-US" sz="1700" dirty="0"/>
          </a:p>
        </p:txBody>
      </p:sp>
      <p:sp>
        <p:nvSpPr>
          <p:cNvPr id="10" name="Text 7"/>
          <p:cNvSpPr/>
          <p:nvPr/>
        </p:nvSpPr>
        <p:spPr>
          <a:xfrm>
            <a:off x="1033272" y="4855464"/>
            <a:ext cx="118872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5 Vpp nominal</a:t>
            </a:r>
            <a:endParaRPr lang="en-US" sz="850" dirty="0"/>
          </a:p>
        </p:txBody>
      </p:sp>
      <p:sp>
        <p:nvSpPr>
          <p:cNvPr id="11" name="Shape 8"/>
          <p:cNvSpPr/>
          <p:nvPr/>
        </p:nvSpPr>
        <p:spPr>
          <a:xfrm>
            <a:off x="2441448" y="4462272"/>
            <a:ext cx="1444752" cy="658368"/>
          </a:xfrm>
          <a:prstGeom prst="roundRect">
            <a:avLst>
              <a:gd name="adj" fmla="val 11111"/>
            </a:avLst>
          </a:prstGeom>
          <a:solidFill>
            <a:srgbClr val="EAF6F0"/>
          </a:solidFill>
          <a:ln w="12700">
            <a:solidFill>
              <a:srgbClr val="D8E2EC"/>
            </a:solidFill>
            <a:prstDash val="solid"/>
          </a:ln>
          <a:effectLst>
            <a:outerShdw algn="bl" rotWithShape="0">
              <a:srgbClr val="000000">
                <a:alpha val="0"/>
              </a:srgbClr>
            </a:outerShdw>
          </a:effectLst>
        </p:spPr>
        <p:txBody>
          <a:bodyPr/>
          <a:lstStyle/>
          <a:p>
            <a:endParaRPr/>
          </a:p>
        </p:txBody>
      </p:sp>
      <p:sp>
        <p:nvSpPr>
          <p:cNvPr id="12" name="Shape 9"/>
          <p:cNvSpPr/>
          <p:nvPr/>
        </p:nvSpPr>
        <p:spPr>
          <a:xfrm>
            <a:off x="2441448" y="4462272"/>
            <a:ext cx="64008" cy="658368"/>
          </a:xfrm>
          <a:prstGeom prst="rect">
            <a:avLst/>
          </a:prstGeom>
          <a:solidFill>
            <a:srgbClr val="26855B"/>
          </a:solidFill>
          <a:ln w="12700">
            <a:solidFill>
              <a:srgbClr val="26855B"/>
            </a:solidFill>
            <a:prstDash val="solid"/>
          </a:ln>
        </p:spPr>
        <p:txBody>
          <a:bodyPr/>
          <a:lstStyle/>
          <a:p>
            <a:endParaRPr/>
          </a:p>
        </p:txBody>
      </p:sp>
      <p:sp>
        <p:nvSpPr>
          <p:cNvPr id="13" name="Text 10"/>
          <p:cNvSpPr/>
          <p:nvPr/>
        </p:nvSpPr>
        <p:spPr>
          <a:xfrm>
            <a:off x="2606040" y="4572000"/>
            <a:ext cx="118872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−0.81%</a:t>
            </a:r>
            <a:endParaRPr lang="en-US" sz="1700" dirty="0"/>
          </a:p>
        </p:txBody>
      </p:sp>
      <p:sp>
        <p:nvSpPr>
          <p:cNvPr id="14" name="Text 11"/>
          <p:cNvSpPr/>
          <p:nvPr/>
        </p:nvSpPr>
        <p:spPr>
          <a:xfrm>
            <a:off x="2606040" y="4855464"/>
            <a:ext cx="118872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7.5 Vpp nominal</a:t>
            </a:r>
            <a:endParaRPr lang="en-US" sz="850" dirty="0"/>
          </a:p>
        </p:txBody>
      </p:sp>
      <p:sp>
        <p:nvSpPr>
          <p:cNvPr id="15" name="Shape 12"/>
          <p:cNvSpPr/>
          <p:nvPr/>
        </p:nvSpPr>
        <p:spPr>
          <a:xfrm>
            <a:off x="4014216" y="4462272"/>
            <a:ext cx="1627632" cy="658368"/>
          </a:xfrm>
          <a:prstGeom prst="roundRect">
            <a:avLst>
              <a:gd name="adj" fmla="val 11111"/>
            </a:avLst>
          </a:prstGeom>
          <a:solidFill>
            <a:srgbClr val="FAECEC"/>
          </a:solidFill>
          <a:ln w="12700">
            <a:solidFill>
              <a:srgbClr val="D8E2EC"/>
            </a:solidFill>
            <a:prstDash val="solid"/>
          </a:ln>
          <a:effectLst>
            <a:outerShdw algn="bl" rotWithShape="0">
              <a:srgbClr val="000000">
                <a:alpha val="0"/>
              </a:srgbClr>
            </a:outerShdw>
          </a:effectLst>
        </p:spPr>
        <p:txBody>
          <a:bodyPr/>
          <a:lstStyle/>
          <a:p>
            <a:endParaRPr/>
          </a:p>
        </p:txBody>
      </p:sp>
      <p:sp>
        <p:nvSpPr>
          <p:cNvPr id="16" name="Shape 13"/>
          <p:cNvSpPr/>
          <p:nvPr/>
        </p:nvSpPr>
        <p:spPr>
          <a:xfrm>
            <a:off x="4014216" y="4462272"/>
            <a:ext cx="64008" cy="658368"/>
          </a:xfrm>
          <a:prstGeom prst="rect">
            <a:avLst/>
          </a:prstGeom>
          <a:solidFill>
            <a:srgbClr val="C84B4B"/>
          </a:solidFill>
          <a:ln w="12700">
            <a:solidFill>
              <a:srgbClr val="C84B4B"/>
            </a:solidFill>
            <a:prstDash val="solid"/>
          </a:ln>
        </p:spPr>
        <p:txBody>
          <a:bodyPr/>
          <a:lstStyle/>
          <a:p>
            <a:endParaRPr/>
          </a:p>
        </p:txBody>
      </p:sp>
      <p:sp>
        <p:nvSpPr>
          <p:cNvPr id="17" name="Text 14"/>
          <p:cNvSpPr/>
          <p:nvPr/>
        </p:nvSpPr>
        <p:spPr>
          <a:xfrm>
            <a:off x="4178808" y="4572000"/>
            <a:ext cx="137160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+6.18%</a:t>
            </a:r>
            <a:endParaRPr lang="en-US" sz="1700" dirty="0"/>
          </a:p>
        </p:txBody>
      </p:sp>
      <p:sp>
        <p:nvSpPr>
          <p:cNvPr id="18" name="Text 15"/>
          <p:cNvSpPr/>
          <p:nvPr/>
        </p:nvSpPr>
        <p:spPr>
          <a:xfrm>
            <a:off x="4178808" y="4855464"/>
            <a:ext cx="137160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10 Vpp nominal</a:t>
            </a:r>
            <a:endParaRPr lang="en-US" sz="850" dirty="0"/>
          </a:p>
        </p:txBody>
      </p:sp>
      <p:sp>
        <p:nvSpPr>
          <p:cNvPr id="19" name="Text 16"/>
          <p:cNvSpPr/>
          <p:nvPr/>
        </p:nvSpPr>
        <p:spPr>
          <a:xfrm>
            <a:off x="1024128" y="5239512"/>
            <a:ext cx="4754880" cy="201168"/>
          </a:xfrm>
          <a:prstGeom prst="rect">
            <a:avLst/>
          </a:prstGeom>
          <a:noFill/>
          <a:ln/>
        </p:spPr>
        <p:txBody>
          <a:bodyPr wrap="square" lIns="0" tIns="0" rIns="0" bIns="0" rtlCol="0" anchor="ctr"/>
          <a:lstStyle/>
          <a:p>
            <a:pPr marL="0" indent="0" algn="ctr">
              <a:buNone/>
            </a:pPr>
            <a:r>
              <a:rPr lang="en-US" sz="1100" b="1" dirty="0">
                <a:solidFill>
                  <a:srgbClr val="5F6B7A"/>
                </a:solidFill>
              </a:rPr>
              <a:t>Three-point fit: R² = 0.994 · MAPE = 2.63%</a:t>
            </a:r>
            <a:endParaRPr lang="en-US" sz="1100" dirty="0"/>
          </a:p>
        </p:txBody>
      </p:sp>
      <p:sp>
        <p:nvSpPr>
          <p:cNvPr id="20" name="Shape 17"/>
          <p:cNvSpPr/>
          <p:nvPr/>
        </p:nvSpPr>
        <p:spPr>
          <a:xfrm>
            <a:off x="6382512" y="1216152"/>
            <a:ext cx="5202936" cy="4343400"/>
          </a:xfrm>
          <a:prstGeom prst="roundRect">
            <a:avLst>
              <a:gd name="adj" fmla="val 1684"/>
            </a:avLst>
          </a:prstGeom>
          <a:solidFill>
            <a:srgbClr val="FFFFFF"/>
          </a:solidFill>
          <a:ln w="12700">
            <a:solidFill>
              <a:srgbClr val="D9E2EC"/>
            </a:solidFill>
            <a:prstDash val="solid"/>
          </a:ln>
          <a:effectLst>
            <a:outerShdw algn="bl" rotWithShape="0">
              <a:srgbClr val="000000">
                <a:alpha val="0"/>
              </a:srgbClr>
            </a:outerShdw>
          </a:effectLst>
        </p:spPr>
        <p:txBody>
          <a:bodyPr/>
          <a:lstStyle/>
          <a:p>
            <a:endParaRPr/>
          </a:p>
        </p:txBody>
      </p:sp>
      <p:sp>
        <p:nvSpPr>
          <p:cNvPr id="21" name="Text 18"/>
          <p:cNvSpPr/>
          <p:nvPr/>
        </p:nvSpPr>
        <p:spPr>
          <a:xfrm>
            <a:off x="6647688" y="1463040"/>
            <a:ext cx="2743200" cy="256032"/>
          </a:xfrm>
          <a:prstGeom prst="rect">
            <a:avLst/>
          </a:prstGeom>
          <a:noFill/>
          <a:ln/>
        </p:spPr>
        <p:txBody>
          <a:bodyPr wrap="square" lIns="0" tIns="0" rIns="0" bIns="0" rtlCol="0" anchor="ctr"/>
          <a:lstStyle/>
          <a:p>
            <a:pPr marL="0" indent="0">
              <a:buNone/>
            </a:pPr>
            <a:r>
              <a:rPr lang="en-US" sz="1600" b="1" dirty="0">
                <a:solidFill>
                  <a:srgbClr val="0E8A92"/>
                </a:solidFill>
              </a:rPr>
              <a:t>DC current-channel validation</a:t>
            </a:r>
            <a:endParaRPr lang="en-US" sz="1600" dirty="0"/>
          </a:p>
        </p:txBody>
      </p:sp>
      <p:pic>
        <p:nvPicPr>
          <p:cNvPr id="22" name="Image 1" descr="/mnt/data/dissertation_media/word/media/image19.png"/>
          <p:cNvPicPr>
            <a:picLocks noChangeAspect="1"/>
          </p:cNvPicPr>
          <p:nvPr/>
        </p:nvPicPr>
        <p:blipFill>
          <a:blip r:embed="rId4"/>
          <a:stretch>
            <a:fillRect/>
          </a:stretch>
        </p:blipFill>
        <p:spPr>
          <a:xfrm>
            <a:off x="7176633" y="1810512"/>
            <a:ext cx="3587262" cy="2487168"/>
          </a:xfrm>
          <a:prstGeom prst="rect">
            <a:avLst/>
          </a:prstGeom>
        </p:spPr>
      </p:pic>
      <p:sp>
        <p:nvSpPr>
          <p:cNvPr id="23" name="Shape 19"/>
          <p:cNvSpPr/>
          <p:nvPr/>
        </p:nvSpPr>
        <p:spPr>
          <a:xfrm>
            <a:off x="6656832" y="4462272"/>
            <a:ext cx="1536192" cy="658368"/>
          </a:xfrm>
          <a:prstGeom prst="roundRect">
            <a:avLst>
              <a:gd name="adj" fmla="val 11111"/>
            </a:avLst>
          </a:prstGeom>
          <a:solidFill>
            <a:srgbClr val="EAF6F0"/>
          </a:solidFill>
          <a:ln w="12700">
            <a:solidFill>
              <a:srgbClr val="D8E2EC"/>
            </a:solidFill>
            <a:prstDash val="solid"/>
          </a:ln>
          <a:effectLst>
            <a:outerShdw algn="bl" rotWithShape="0">
              <a:srgbClr val="000000">
                <a:alpha val="0"/>
              </a:srgbClr>
            </a:outerShdw>
          </a:effectLst>
        </p:spPr>
        <p:txBody>
          <a:bodyPr/>
          <a:lstStyle/>
          <a:p>
            <a:endParaRPr/>
          </a:p>
        </p:txBody>
      </p:sp>
      <p:sp>
        <p:nvSpPr>
          <p:cNvPr id="24" name="Shape 20"/>
          <p:cNvSpPr/>
          <p:nvPr/>
        </p:nvSpPr>
        <p:spPr>
          <a:xfrm>
            <a:off x="6656832" y="4462272"/>
            <a:ext cx="64008" cy="658368"/>
          </a:xfrm>
          <a:prstGeom prst="rect">
            <a:avLst/>
          </a:prstGeom>
          <a:solidFill>
            <a:srgbClr val="26855B"/>
          </a:solidFill>
          <a:ln w="12700">
            <a:solidFill>
              <a:srgbClr val="26855B"/>
            </a:solidFill>
            <a:prstDash val="solid"/>
          </a:ln>
        </p:spPr>
        <p:txBody>
          <a:bodyPr/>
          <a:lstStyle/>
          <a:p>
            <a:endParaRPr/>
          </a:p>
        </p:txBody>
      </p:sp>
      <p:sp>
        <p:nvSpPr>
          <p:cNvPr id="25" name="Text 21"/>
          <p:cNvSpPr/>
          <p:nvPr/>
        </p:nvSpPr>
        <p:spPr>
          <a:xfrm>
            <a:off x="6821424" y="4572000"/>
            <a:ext cx="1280160"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0–0.46 A</a:t>
            </a:r>
            <a:endParaRPr lang="en-US" sz="1700" dirty="0"/>
          </a:p>
        </p:txBody>
      </p:sp>
      <p:sp>
        <p:nvSpPr>
          <p:cNvPr id="26" name="Text 22"/>
          <p:cNvSpPr/>
          <p:nvPr/>
        </p:nvSpPr>
        <p:spPr>
          <a:xfrm>
            <a:off x="6821424" y="4855464"/>
            <a:ext cx="1280160"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tested range</a:t>
            </a:r>
            <a:endParaRPr lang="en-US" sz="850" dirty="0"/>
          </a:p>
        </p:txBody>
      </p:sp>
      <p:sp>
        <p:nvSpPr>
          <p:cNvPr id="27" name="Shape 23"/>
          <p:cNvSpPr/>
          <p:nvPr/>
        </p:nvSpPr>
        <p:spPr>
          <a:xfrm>
            <a:off x="8339328" y="4462272"/>
            <a:ext cx="1344168" cy="658368"/>
          </a:xfrm>
          <a:prstGeom prst="roundRect">
            <a:avLst>
              <a:gd name="adj" fmla="val 11111"/>
            </a:avLst>
          </a:prstGeom>
          <a:solidFill>
            <a:srgbClr val="EAF6F0"/>
          </a:solidFill>
          <a:ln w="12700">
            <a:solidFill>
              <a:srgbClr val="D8E2EC"/>
            </a:solidFill>
            <a:prstDash val="solid"/>
          </a:ln>
          <a:effectLst>
            <a:outerShdw algn="bl" rotWithShape="0">
              <a:srgbClr val="000000">
                <a:alpha val="0"/>
              </a:srgbClr>
            </a:outerShdw>
          </a:effectLst>
        </p:spPr>
        <p:txBody>
          <a:bodyPr/>
          <a:lstStyle/>
          <a:p>
            <a:endParaRPr/>
          </a:p>
        </p:txBody>
      </p:sp>
      <p:sp>
        <p:nvSpPr>
          <p:cNvPr id="28" name="Shape 24"/>
          <p:cNvSpPr/>
          <p:nvPr/>
        </p:nvSpPr>
        <p:spPr>
          <a:xfrm>
            <a:off x="8339328" y="4462272"/>
            <a:ext cx="64008" cy="658368"/>
          </a:xfrm>
          <a:prstGeom prst="rect">
            <a:avLst/>
          </a:prstGeom>
          <a:solidFill>
            <a:srgbClr val="26855B"/>
          </a:solidFill>
          <a:ln w="12700">
            <a:solidFill>
              <a:srgbClr val="26855B"/>
            </a:solidFill>
            <a:prstDash val="solid"/>
          </a:ln>
        </p:spPr>
        <p:txBody>
          <a:bodyPr/>
          <a:lstStyle/>
          <a:p>
            <a:endParaRPr/>
          </a:p>
        </p:txBody>
      </p:sp>
      <p:sp>
        <p:nvSpPr>
          <p:cNvPr id="29" name="Text 25"/>
          <p:cNvSpPr/>
          <p:nvPr/>
        </p:nvSpPr>
        <p:spPr>
          <a:xfrm>
            <a:off x="8503920" y="4572000"/>
            <a:ext cx="1088136"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R² 0.99959</a:t>
            </a:r>
            <a:endParaRPr lang="en-US" sz="1700" dirty="0"/>
          </a:p>
        </p:txBody>
      </p:sp>
      <p:sp>
        <p:nvSpPr>
          <p:cNvPr id="30" name="Text 26"/>
          <p:cNvSpPr/>
          <p:nvPr/>
        </p:nvSpPr>
        <p:spPr>
          <a:xfrm>
            <a:off x="8503920" y="4855464"/>
            <a:ext cx="10881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linearity</a:t>
            </a:r>
            <a:endParaRPr lang="en-US" sz="850" dirty="0"/>
          </a:p>
        </p:txBody>
      </p:sp>
      <p:sp>
        <p:nvSpPr>
          <p:cNvPr id="31" name="Shape 27"/>
          <p:cNvSpPr/>
          <p:nvPr/>
        </p:nvSpPr>
        <p:spPr>
          <a:xfrm>
            <a:off x="9829800" y="4462272"/>
            <a:ext cx="1463040" cy="658368"/>
          </a:xfrm>
          <a:prstGeom prst="roundRect">
            <a:avLst>
              <a:gd name="adj" fmla="val 11111"/>
            </a:avLst>
          </a:prstGeom>
          <a:solidFill>
            <a:srgbClr val="EAF3FA"/>
          </a:solidFill>
          <a:ln w="12700">
            <a:solidFill>
              <a:srgbClr val="D8E2EC"/>
            </a:solidFill>
            <a:prstDash val="solid"/>
          </a:ln>
          <a:effectLst>
            <a:outerShdw algn="bl" rotWithShape="0">
              <a:srgbClr val="000000">
                <a:alpha val="0"/>
              </a:srgbClr>
            </a:outerShdw>
          </a:effectLst>
        </p:spPr>
        <p:txBody>
          <a:bodyPr/>
          <a:lstStyle/>
          <a:p>
            <a:endParaRPr/>
          </a:p>
        </p:txBody>
      </p:sp>
      <p:sp>
        <p:nvSpPr>
          <p:cNvPr id="32" name="Shape 28"/>
          <p:cNvSpPr/>
          <p:nvPr/>
        </p:nvSpPr>
        <p:spPr>
          <a:xfrm>
            <a:off x="9829800" y="4462272"/>
            <a:ext cx="64008" cy="658368"/>
          </a:xfrm>
          <a:prstGeom prst="rect">
            <a:avLst/>
          </a:prstGeom>
          <a:solidFill>
            <a:srgbClr val="2D78B7"/>
          </a:solidFill>
          <a:ln w="12700">
            <a:solidFill>
              <a:srgbClr val="2D78B7"/>
            </a:solidFill>
            <a:prstDash val="solid"/>
          </a:ln>
        </p:spPr>
        <p:txBody>
          <a:bodyPr/>
          <a:lstStyle/>
          <a:p>
            <a:endParaRPr/>
          </a:p>
        </p:txBody>
      </p:sp>
      <p:sp>
        <p:nvSpPr>
          <p:cNvPr id="33" name="Text 29"/>
          <p:cNvSpPr/>
          <p:nvPr/>
        </p:nvSpPr>
        <p:spPr>
          <a:xfrm>
            <a:off x="9994392" y="4572000"/>
            <a:ext cx="1207008"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1.0193×</a:t>
            </a:r>
            <a:endParaRPr lang="en-US" sz="1700" dirty="0"/>
          </a:p>
        </p:txBody>
      </p:sp>
      <p:sp>
        <p:nvSpPr>
          <p:cNvPr id="34" name="Text 30"/>
          <p:cNvSpPr/>
          <p:nvPr/>
        </p:nvSpPr>
        <p:spPr>
          <a:xfrm>
            <a:off x="9994392" y="4855464"/>
            <a:ext cx="1207008"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gain fit</a:t>
            </a:r>
            <a:endParaRPr lang="en-US" sz="850" dirty="0"/>
          </a:p>
        </p:txBody>
      </p:sp>
      <p:sp>
        <p:nvSpPr>
          <p:cNvPr id="35" name="Text 31"/>
          <p:cNvSpPr/>
          <p:nvPr/>
        </p:nvSpPr>
        <p:spPr>
          <a:xfrm>
            <a:off x="6812280" y="5221224"/>
            <a:ext cx="4370832" cy="310896"/>
          </a:xfrm>
          <a:prstGeom prst="rect">
            <a:avLst/>
          </a:prstGeom>
          <a:noFill/>
          <a:ln/>
        </p:spPr>
        <p:txBody>
          <a:bodyPr wrap="square" lIns="0" tIns="0" rIns="0" bIns="0" rtlCol="0" anchor="ctr">
            <a:normAutofit lnSpcReduction="10000"/>
          </a:bodyPr>
          <a:lstStyle/>
          <a:p>
            <a:pPr marL="0" indent="0" algn="ctr">
              <a:buNone/>
            </a:pPr>
            <a:r>
              <a:rPr lang="en-US" sz="1040" dirty="0">
                <a:solidFill>
                  <a:srgbClr val="5F6B7A"/>
                </a:solidFill>
              </a:rPr>
              <a:t>Observed comparison differences were small, but the reference DMM was too coarse for mA-level accuracy claims.</a:t>
            </a:r>
            <a:endParaRPr lang="en-US" sz="1040" dirty="0"/>
          </a:p>
        </p:txBody>
      </p:sp>
      <p:sp>
        <p:nvSpPr>
          <p:cNvPr id="36" name="Shape 32"/>
          <p:cNvSpPr/>
          <p:nvPr/>
        </p:nvSpPr>
        <p:spPr>
          <a:xfrm>
            <a:off x="685800" y="5751576"/>
            <a:ext cx="2029968"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37" name="Shape 33"/>
          <p:cNvSpPr/>
          <p:nvPr/>
        </p:nvSpPr>
        <p:spPr>
          <a:xfrm>
            <a:off x="685800" y="5751576"/>
            <a:ext cx="64008" cy="658368"/>
          </a:xfrm>
          <a:prstGeom prst="rect">
            <a:avLst/>
          </a:prstGeom>
          <a:solidFill>
            <a:srgbClr val="2D78B7"/>
          </a:solidFill>
          <a:ln w="12700">
            <a:solidFill>
              <a:srgbClr val="2D78B7"/>
            </a:solidFill>
            <a:prstDash val="solid"/>
          </a:ln>
        </p:spPr>
        <p:txBody>
          <a:bodyPr/>
          <a:lstStyle/>
          <a:p>
            <a:endParaRPr/>
          </a:p>
        </p:txBody>
      </p:sp>
      <p:sp>
        <p:nvSpPr>
          <p:cNvPr id="38" name="Text 34"/>
          <p:cNvSpPr/>
          <p:nvPr/>
        </p:nvSpPr>
        <p:spPr>
          <a:xfrm>
            <a:off x="850392" y="5861304"/>
            <a:ext cx="1773936"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CS = 10.00 kHz</a:t>
            </a:r>
            <a:endParaRPr lang="en-US" sz="1700" dirty="0"/>
          </a:p>
        </p:txBody>
      </p:sp>
      <p:sp>
        <p:nvSpPr>
          <p:cNvPr id="39" name="Text 35"/>
          <p:cNvSpPr/>
          <p:nvPr/>
        </p:nvSpPr>
        <p:spPr>
          <a:xfrm>
            <a:off x="850392" y="6144768"/>
            <a:ext cx="17739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physical sample cadence</a:t>
            </a:r>
            <a:endParaRPr lang="en-US" sz="850" dirty="0"/>
          </a:p>
        </p:txBody>
      </p:sp>
      <p:sp>
        <p:nvSpPr>
          <p:cNvPr id="40" name="Shape 36"/>
          <p:cNvSpPr/>
          <p:nvPr/>
        </p:nvSpPr>
        <p:spPr>
          <a:xfrm>
            <a:off x="2843784" y="5751576"/>
            <a:ext cx="2029968"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41" name="Shape 37"/>
          <p:cNvSpPr/>
          <p:nvPr/>
        </p:nvSpPr>
        <p:spPr>
          <a:xfrm>
            <a:off x="2843784" y="5751576"/>
            <a:ext cx="64008" cy="658368"/>
          </a:xfrm>
          <a:prstGeom prst="rect">
            <a:avLst/>
          </a:prstGeom>
          <a:solidFill>
            <a:srgbClr val="26855B"/>
          </a:solidFill>
          <a:ln w="12700">
            <a:solidFill>
              <a:srgbClr val="26855B"/>
            </a:solidFill>
            <a:prstDash val="solid"/>
          </a:ln>
        </p:spPr>
        <p:txBody>
          <a:bodyPr/>
          <a:lstStyle/>
          <a:p>
            <a:endParaRPr/>
          </a:p>
        </p:txBody>
      </p:sp>
      <p:sp>
        <p:nvSpPr>
          <p:cNvPr id="42" name="Text 38"/>
          <p:cNvSpPr/>
          <p:nvPr/>
        </p:nvSpPr>
        <p:spPr>
          <a:xfrm>
            <a:off x="3008376" y="5861304"/>
            <a:ext cx="1773936"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WNS +0.327 ns</a:t>
            </a:r>
            <a:endParaRPr lang="en-US" sz="1700" dirty="0"/>
          </a:p>
        </p:txBody>
      </p:sp>
      <p:sp>
        <p:nvSpPr>
          <p:cNvPr id="43" name="Text 39"/>
          <p:cNvSpPr/>
          <p:nvPr/>
        </p:nvSpPr>
        <p:spPr>
          <a:xfrm>
            <a:off x="3008376" y="6144768"/>
            <a:ext cx="17739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timing closure</a:t>
            </a:r>
            <a:endParaRPr lang="en-US" sz="850" dirty="0"/>
          </a:p>
        </p:txBody>
      </p:sp>
      <p:sp>
        <p:nvSpPr>
          <p:cNvPr id="44" name="Shape 40"/>
          <p:cNvSpPr/>
          <p:nvPr/>
        </p:nvSpPr>
        <p:spPr>
          <a:xfrm>
            <a:off x="5001768" y="5751576"/>
            <a:ext cx="2029968"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45" name="Shape 41"/>
          <p:cNvSpPr/>
          <p:nvPr/>
        </p:nvSpPr>
        <p:spPr>
          <a:xfrm>
            <a:off x="5001768" y="5751576"/>
            <a:ext cx="64008" cy="658368"/>
          </a:xfrm>
          <a:prstGeom prst="rect">
            <a:avLst/>
          </a:prstGeom>
          <a:solidFill>
            <a:srgbClr val="E98B2A"/>
          </a:solidFill>
          <a:ln w="12700">
            <a:solidFill>
              <a:srgbClr val="E98B2A"/>
            </a:solidFill>
            <a:prstDash val="solid"/>
          </a:ln>
        </p:spPr>
        <p:txBody>
          <a:bodyPr/>
          <a:lstStyle/>
          <a:p>
            <a:endParaRPr/>
          </a:p>
        </p:txBody>
      </p:sp>
      <p:sp>
        <p:nvSpPr>
          <p:cNvPr id="46" name="Text 42"/>
          <p:cNvSpPr/>
          <p:nvPr/>
        </p:nvSpPr>
        <p:spPr>
          <a:xfrm>
            <a:off x="5166360" y="5861304"/>
            <a:ext cx="1773936"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LUT 10.43%</a:t>
            </a:r>
            <a:endParaRPr lang="en-US" sz="1700" dirty="0"/>
          </a:p>
        </p:txBody>
      </p:sp>
      <p:sp>
        <p:nvSpPr>
          <p:cNvPr id="47" name="Text 43"/>
          <p:cNvSpPr/>
          <p:nvPr/>
        </p:nvSpPr>
        <p:spPr>
          <a:xfrm>
            <a:off x="5166360" y="6144768"/>
            <a:ext cx="17739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resource use</a:t>
            </a:r>
            <a:endParaRPr lang="en-US" sz="850" dirty="0"/>
          </a:p>
        </p:txBody>
      </p:sp>
      <p:sp>
        <p:nvSpPr>
          <p:cNvPr id="48" name="Shape 44"/>
          <p:cNvSpPr/>
          <p:nvPr/>
        </p:nvSpPr>
        <p:spPr>
          <a:xfrm>
            <a:off x="7159752" y="5751576"/>
            <a:ext cx="2029968"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49" name="Shape 45"/>
          <p:cNvSpPr/>
          <p:nvPr/>
        </p:nvSpPr>
        <p:spPr>
          <a:xfrm>
            <a:off x="7159752" y="5751576"/>
            <a:ext cx="64008" cy="658368"/>
          </a:xfrm>
          <a:prstGeom prst="rect">
            <a:avLst/>
          </a:prstGeom>
          <a:solidFill>
            <a:srgbClr val="E98B2A"/>
          </a:solidFill>
          <a:ln w="12700">
            <a:solidFill>
              <a:srgbClr val="E98B2A"/>
            </a:solidFill>
            <a:prstDash val="solid"/>
          </a:ln>
        </p:spPr>
        <p:txBody>
          <a:bodyPr/>
          <a:lstStyle/>
          <a:p>
            <a:endParaRPr/>
          </a:p>
        </p:txBody>
      </p:sp>
      <p:sp>
        <p:nvSpPr>
          <p:cNvPr id="50" name="Text 46"/>
          <p:cNvSpPr/>
          <p:nvPr/>
        </p:nvSpPr>
        <p:spPr>
          <a:xfrm>
            <a:off x="7324344" y="5861304"/>
            <a:ext cx="1773936" cy="256032"/>
          </a:xfrm>
          <a:prstGeom prst="rect">
            <a:avLst/>
          </a:prstGeom>
          <a:noFill/>
          <a:ln/>
        </p:spPr>
        <p:txBody>
          <a:bodyPr wrap="square" lIns="0" tIns="0" rIns="0" bIns="0" rtlCol="0" anchor="ctr">
            <a:normAutofit lnSpcReduction="10000"/>
          </a:bodyPr>
          <a:lstStyle/>
          <a:p>
            <a:pPr marL="0" indent="0">
              <a:buNone/>
            </a:pPr>
            <a:r>
              <a:rPr lang="en-US" sz="1700" b="1" dirty="0">
                <a:solidFill>
                  <a:srgbClr val="172033"/>
                </a:solidFill>
              </a:rPr>
              <a:t>DSP 25.0%</a:t>
            </a:r>
            <a:endParaRPr lang="en-US" sz="1700" dirty="0"/>
          </a:p>
        </p:txBody>
      </p:sp>
      <p:sp>
        <p:nvSpPr>
          <p:cNvPr id="51" name="Text 47"/>
          <p:cNvSpPr/>
          <p:nvPr/>
        </p:nvSpPr>
        <p:spPr>
          <a:xfrm>
            <a:off x="7324344" y="6144768"/>
            <a:ext cx="17739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resource use</a:t>
            </a:r>
            <a:endParaRPr lang="en-US" sz="850" dirty="0"/>
          </a:p>
        </p:txBody>
      </p:sp>
      <p:sp>
        <p:nvSpPr>
          <p:cNvPr id="52" name="Shape 48"/>
          <p:cNvSpPr/>
          <p:nvPr/>
        </p:nvSpPr>
        <p:spPr>
          <a:xfrm>
            <a:off x="9317736" y="5751576"/>
            <a:ext cx="2029968" cy="658368"/>
          </a:xfrm>
          <a:prstGeom prst="roundRect">
            <a:avLst>
              <a:gd name="adj" fmla="val 11111"/>
            </a:avLst>
          </a:prstGeom>
          <a:solidFill>
            <a:srgbClr val="FFFFFF"/>
          </a:solidFill>
          <a:ln w="12700">
            <a:solidFill>
              <a:srgbClr val="D8E2EC"/>
            </a:solidFill>
            <a:prstDash val="solid"/>
          </a:ln>
          <a:effectLst>
            <a:outerShdw algn="bl" rotWithShape="0">
              <a:srgbClr val="000000">
                <a:alpha val="0"/>
              </a:srgbClr>
            </a:outerShdw>
          </a:effectLst>
        </p:spPr>
        <p:txBody>
          <a:bodyPr/>
          <a:lstStyle/>
          <a:p>
            <a:endParaRPr/>
          </a:p>
        </p:txBody>
      </p:sp>
      <p:sp>
        <p:nvSpPr>
          <p:cNvPr id="53" name="Shape 49"/>
          <p:cNvSpPr/>
          <p:nvPr/>
        </p:nvSpPr>
        <p:spPr>
          <a:xfrm>
            <a:off x="9317736" y="5751576"/>
            <a:ext cx="64008" cy="658368"/>
          </a:xfrm>
          <a:prstGeom prst="rect">
            <a:avLst/>
          </a:prstGeom>
          <a:solidFill>
            <a:srgbClr val="0E8A92"/>
          </a:solidFill>
          <a:ln w="12700">
            <a:solidFill>
              <a:srgbClr val="0E8A92"/>
            </a:solidFill>
            <a:prstDash val="solid"/>
          </a:ln>
        </p:spPr>
        <p:txBody>
          <a:bodyPr/>
          <a:lstStyle/>
          <a:p>
            <a:endParaRPr/>
          </a:p>
        </p:txBody>
      </p:sp>
      <p:sp>
        <p:nvSpPr>
          <p:cNvPr id="54" name="Text 50"/>
          <p:cNvSpPr/>
          <p:nvPr/>
        </p:nvSpPr>
        <p:spPr>
          <a:xfrm>
            <a:off x="9482328" y="5861304"/>
            <a:ext cx="1773936" cy="256032"/>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172033"/>
                </a:solidFill>
              </a:rPr>
              <a:t>Sag/swell functional</a:t>
            </a:r>
            <a:endParaRPr lang="en-US" sz="1700" dirty="0"/>
          </a:p>
        </p:txBody>
      </p:sp>
      <p:sp>
        <p:nvSpPr>
          <p:cNvPr id="55" name="Text 51"/>
          <p:cNvSpPr/>
          <p:nvPr/>
        </p:nvSpPr>
        <p:spPr>
          <a:xfrm>
            <a:off x="9482328" y="6144768"/>
            <a:ext cx="1773936" cy="164592"/>
          </a:xfrm>
          <a:prstGeom prst="rect">
            <a:avLst/>
          </a:prstGeom>
          <a:noFill/>
          <a:ln/>
        </p:spPr>
        <p:txBody>
          <a:bodyPr wrap="square" lIns="0" tIns="0" rIns="0" bIns="0" rtlCol="0" anchor="ctr">
            <a:normAutofit/>
          </a:bodyPr>
          <a:lstStyle/>
          <a:p>
            <a:pPr marL="0" indent="0">
              <a:buNone/>
            </a:pPr>
            <a:r>
              <a:rPr lang="en-US" sz="850" dirty="0">
                <a:solidFill>
                  <a:srgbClr val="5F6B7A"/>
                </a:solidFill>
              </a:rPr>
              <a:t>events</a:t>
            </a:r>
            <a:endParaRPr lang="en-US" sz="850" dirty="0"/>
          </a:p>
        </p:txBody>
      </p:sp>
      <p:sp>
        <p:nvSpPr>
          <p:cNvPr id="56" name="Slide Number Placeholder 0"/>
          <p:cNvSpPr>
            <a:spLocks noGrp="1"/>
          </p:cNvSpPr>
          <p:nvPr>
            <p:ph type="sldNum" sz="quarter" idx="4294967295"/>
          </p:nvPr>
        </p:nvSpPr>
        <p:spPr>
          <a:xfrm>
            <a:off x="11686032" y="6510528"/>
            <a:ext cx="201168"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94A3B8"/>
                </a:solidFill>
                <a:latin typeface="Aptos"/>
                <a:ea typeface="Aptos"/>
                <a:cs typeface="Aptos"/>
              </a:defRPr>
            </a:lvl1pPr>
          </a:lstStyle>
          <a:p>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op_rule"/>
          <p:cNvSpPr/>
          <p:nvPr/>
        </p:nvSpPr>
        <p:spPr>
          <a:xfrm>
            <a:off x="0" y="0"/>
            <a:ext cx="12192000" cy="64008"/>
          </a:xfrm>
          <a:prstGeom prst="rect">
            <a:avLst/>
          </a:prstGeom>
          <a:solidFill>
            <a:srgbClr val="004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kicker"/>
          <p:cNvSpPr txBox="1"/>
          <p:nvPr/>
        </p:nvSpPr>
        <p:spPr>
          <a:xfrm>
            <a:off x="576072" y="365760"/>
            <a:ext cx="3749039" cy="228600"/>
          </a:xfrm>
          <a:prstGeom prst="rect">
            <a:avLst/>
          </a:prstGeom>
          <a:noFill/>
        </p:spPr>
        <p:txBody>
          <a:bodyPr wrap="square" lIns="18288" tIns="18288" rIns="18288" bIns="18288">
            <a:spAutoFit/>
          </a:bodyPr>
          <a:lstStyle/>
          <a:p>
            <a:pPr algn="l">
              <a:defRPr sz="1050" b="1">
                <a:solidFill>
                  <a:srgbClr val="2B79BC"/>
                </a:solidFill>
                <a:latin typeface="Aptos"/>
              </a:defRPr>
            </a:pPr>
            <a:r>
              <a:t>WHAT CAN BE CLAIMED</a:t>
            </a:r>
          </a:p>
        </p:txBody>
      </p:sp>
      <p:sp>
        <p:nvSpPr>
          <p:cNvPr id="4" name="slide_title"/>
          <p:cNvSpPr txBox="1"/>
          <p:nvPr/>
        </p:nvSpPr>
        <p:spPr>
          <a:xfrm>
            <a:off x="576072" y="713232"/>
            <a:ext cx="10607040" cy="502920"/>
          </a:xfrm>
          <a:prstGeom prst="rect">
            <a:avLst/>
          </a:prstGeom>
          <a:noFill/>
        </p:spPr>
        <p:txBody>
          <a:bodyPr wrap="square" lIns="18288" tIns="18288" rIns="18288" bIns="18288">
            <a:spAutoFit/>
          </a:bodyPr>
          <a:lstStyle/>
          <a:p>
            <a:pPr algn="l">
              <a:defRPr sz="2800" b="1">
                <a:solidFill>
                  <a:srgbClr val="192234"/>
                </a:solidFill>
                <a:latin typeface="Aptos"/>
              </a:defRPr>
            </a:pPr>
            <a:r>
              <a:t>Voltage uncertainty and limitations</a:t>
            </a:r>
          </a:p>
        </p:txBody>
      </p:sp>
      <p:sp>
        <p:nvSpPr>
          <p:cNvPr id="5" name="card_voltage_error"/>
          <p:cNvSpPr/>
          <p:nvPr/>
        </p:nvSpPr>
        <p:spPr>
          <a:xfrm>
            <a:off x="566928" y="1243584"/>
            <a:ext cx="5440680" cy="3611880"/>
          </a:xfrm>
          <a:prstGeom prst="roundRect">
            <a:avLst/>
          </a:prstGeom>
          <a:solidFill>
            <a:srgbClr val="FFFFFF"/>
          </a:solidFill>
          <a:ln w="12700">
            <a:solidFill>
              <a:srgbClr val="CD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d_voltage_contrib"/>
          <p:cNvSpPr/>
          <p:nvPr/>
        </p:nvSpPr>
        <p:spPr>
          <a:xfrm>
            <a:off x="6181344" y="1243584"/>
            <a:ext cx="5440680" cy="3611880"/>
          </a:xfrm>
          <a:prstGeom prst="roundRect">
            <a:avLst/>
          </a:prstGeom>
          <a:solidFill>
            <a:srgbClr val="FFFFFF"/>
          </a:solidFill>
          <a:ln w="12700">
            <a:solidFill>
              <a:srgbClr val="CD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ot1_title"/>
          <p:cNvSpPr txBox="1"/>
          <p:nvPr/>
        </p:nvSpPr>
        <p:spPr>
          <a:xfrm>
            <a:off x="822960" y="1444752"/>
            <a:ext cx="4572000" cy="274320"/>
          </a:xfrm>
          <a:prstGeom prst="rect">
            <a:avLst/>
          </a:prstGeom>
          <a:noFill/>
        </p:spPr>
        <p:txBody>
          <a:bodyPr wrap="square" lIns="18288" tIns="18288" rIns="18288" bIns="18288">
            <a:spAutoFit/>
          </a:bodyPr>
          <a:lstStyle/>
          <a:p>
            <a:pPr algn="l">
              <a:defRPr sz="1600" b="1">
                <a:solidFill>
                  <a:srgbClr val="2B79BC"/>
                </a:solidFill>
                <a:latin typeface="Aptos"/>
              </a:defRPr>
            </a:pPr>
            <a:r>
              <a:t>Voltage RMS error vs U(k=2)</a:t>
            </a:r>
          </a:p>
        </p:txBody>
      </p:sp>
      <p:sp>
        <p:nvSpPr>
          <p:cNvPr id="8" name="plot2_title"/>
          <p:cNvSpPr txBox="1"/>
          <p:nvPr/>
        </p:nvSpPr>
        <p:spPr>
          <a:xfrm>
            <a:off x="6437376" y="1444752"/>
            <a:ext cx="4572000" cy="274320"/>
          </a:xfrm>
          <a:prstGeom prst="rect">
            <a:avLst/>
          </a:prstGeom>
          <a:noFill/>
        </p:spPr>
        <p:txBody>
          <a:bodyPr wrap="square" lIns="18288" tIns="18288" rIns="18288" bIns="18288">
            <a:spAutoFit/>
          </a:bodyPr>
          <a:lstStyle/>
          <a:p>
            <a:pPr algn="l">
              <a:defRPr sz="1600" b="1">
                <a:solidFill>
                  <a:srgbClr val="2B79BC"/>
                </a:solidFill>
                <a:latin typeface="Aptos"/>
              </a:defRPr>
            </a:pPr>
            <a:r>
              <a:t>Voltage RMS uncertainty contributors</a:t>
            </a:r>
          </a:p>
        </p:txBody>
      </p:sp>
      <p:pic>
        <p:nvPicPr>
          <p:cNvPr id="9" name="voltage_error_plot" descr="image.png"/>
          <p:cNvPicPr>
            <a:picLocks noChangeAspect="1"/>
          </p:cNvPicPr>
          <p:nvPr/>
        </p:nvPicPr>
        <p:blipFill>
          <a:blip r:embed="rId3"/>
          <a:stretch>
            <a:fillRect/>
          </a:stretch>
        </p:blipFill>
        <p:spPr>
          <a:xfrm>
            <a:off x="1223362" y="1764792"/>
            <a:ext cx="4155244" cy="2542032"/>
          </a:xfrm>
          <a:prstGeom prst="rect">
            <a:avLst/>
          </a:prstGeom>
        </p:spPr>
      </p:pic>
      <p:pic>
        <p:nvPicPr>
          <p:cNvPr id="10" name="voltage_contributors_plot" descr="9b5129e1-7b88-444c-8329-c766295574f4.png"/>
          <p:cNvPicPr>
            <a:picLocks noChangeAspect="1"/>
          </p:cNvPicPr>
          <p:nvPr/>
        </p:nvPicPr>
        <p:blipFill>
          <a:blip r:embed="rId4"/>
          <a:stretch>
            <a:fillRect/>
          </a:stretch>
        </p:blipFill>
        <p:spPr>
          <a:xfrm>
            <a:off x="6810112" y="1764792"/>
            <a:ext cx="4155711" cy="2542032"/>
          </a:xfrm>
          <a:prstGeom prst="rect">
            <a:avLst/>
          </a:prstGeom>
        </p:spPr>
      </p:pic>
      <p:sp>
        <p:nvSpPr>
          <p:cNvPr id="11" name="voltage_u_note"/>
          <p:cNvSpPr txBox="1"/>
          <p:nvPr/>
        </p:nvSpPr>
        <p:spPr>
          <a:xfrm>
            <a:off x="1188720" y="4370832"/>
            <a:ext cx="4389120" cy="228600"/>
          </a:xfrm>
          <a:prstGeom prst="rect">
            <a:avLst/>
          </a:prstGeom>
          <a:noFill/>
        </p:spPr>
        <p:txBody>
          <a:bodyPr wrap="square" lIns="18288" tIns="18288" rIns="18288" bIns="18288">
            <a:spAutoFit/>
          </a:bodyPr>
          <a:lstStyle/>
          <a:p>
            <a:pPr algn="ctr">
              <a:defRPr sz="1250" b="1">
                <a:solidFill>
                  <a:srgbClr val="54667E"/>
                </a:solidFill>
                <a:latin typeface="Aptos"/>
              </a:defRPr>
            </a:pPr>
            <a:r>
              <a:t>U(k=2): ±37.2 mV · ±41.5 mV · ±56.7 mV</a:t>
            </a:r>
          </a:p>
        </p:txBody>
      </p:sp>
      <p:sp>
        <p:nvSpPr>
          <p:cNvPr id="12" name="voltage_contrib_note"/>
          <p:cNvSpPr txBox="1"/>
          <p:nvPr/>
        </p:nvSpPr>
        <p:spPr>
          <a:xfrm>
            <a:off x="6601968" y="4370832"/>
            <a:ext cx="4572000" cy="228600"/>
          </a:xfrm>
          <a:prstGeom prst="rect">
            <a:avLst/>
          </a:prstGeom>
          <a:noFill/>
        </p:spPr>
        <p:txBody>
          <a:bodyPr wrap="square" lIns="18288" tIns="18288" rIns="18288" bIns="18288">
            <a:spAutoFit/>
          </a:bodyPr>
          <a:lstStyle/>
          <a:p>
            <a:pPr algn="ctr">
              <a:defRPr sz="1250" b="1">
                <a:solidFill>
                  <a:srgbClr val="54667E"/>
                </a:solidFill>
                <a:latin typeface="Aptos"/>
              </a:defRPr>
            </a:pPr>
            <a:r>
              <a:t>Main contributors: scope gain, probe attenuation, repeatability and zero shift.</a:t>
            </a:r>
          </a:p>
        </p:txBody>
      </p:sp>
      <p:sp>
        <p:nvSpPr>
          <p:cNvPr id="13" name="interpretation_box"/>
          <p:cNvSpPr/>
          <p:nvPr/>
        </p:nvSpPr>
        <p:spPr>
          <a:xfrm>
            <a:off x="841248" y="5029200"/>
            <a:ext cx="10488168" cy="713232"/>
          </a:xfrm>
          <a:prstGeom prst="roundRect">
            <a:avLst/>
          </a:prstGeom>
          <a:solidFill>
            <a:srgbClr val="E8F4FC"/>
          </a:solidFill>
          <a:ln w="12700">
            <a:solidFill>
              <a:srgbClr val="CD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interpretation_heading"/>
          <p:cNvSpPr txBox="1"/>
          <p:nvPr/>
        </p:nvSpPr>
        <p:spPr>
          <a:xfrm>
            <a:off x="1051560" y="5138928"/>
            <a:ext cx="1645920" cy="256032"/>
          </a:xfrm>
          <a:prstGeom prst="rect">
            <a:avLst/>
          </a:prstGeom>
          <a:noFill/>
        </p:spPr>
        <p:txBody>
          <a:bodyPr wrap="square" lIns="18288" tIns="18288" rIns="18288" bIns="18288">
            <a:spAutoFit/>
          </a:bodyPr>
          <a:lstStyle/>
          <a:p>
            <a:pPr algn="l">
              <a:defRPr sz="1600" b="1">
                <a:solidFill>
                  <a:srgbClr val="192234"/>
                </a:solidFill>
                <a:latin typeface="Aptos"/>
              </a:defRPr>
            </a:pPr>
            <a:r>
              <a:t>Interpretation</a:t>
            </a:r>
          </a:p>
        </p:txBody>
      </p:sp>
      <p:sp>
        <p:nvSpPr>
          <p:cNvPr id="15" name="voltage_interpretation"/>
          <p:cNvSpPr txBox="1"/>
          <p:nvPr/>
        </p:nvSpPr>
        <p:spPr>
          <a:xfrm>
            <a:off x="2743200" y="5074920"/>
            <a:ext cx="8321040" cy="566928"/>
          </a:xfrm>
          <a:prstGeom prst="rect">
            <a:avLst/>
          </a:prstGeom>
          <a:noFill/>
        </p:spPr>
        <p:txBody>
          <a:bodyPr wrap="square" lIns="18288" tIns="18288" rIns="18288" bIns="18288">
            <a:spAutoFit/>
          </a:bodyPr>
          <a:lstStyle/>
          <a:p>
            <a:pPr>
              <a:spcAft>
                <a:spcPts val="300"/>
              </a:spcAft>
              <a:defRPr sz="1150">
                <a:solidFill>
                  <a:srgbClr val="192234"/>
                </a:solidFill>
                <a:latin typeface="Aptos"/>
              </a:defRPr>
            </a:pPr>
            <a:r>
              <a:t>The 5 Vpp and 7.5 Vpp RMS errors are inside the estimated k=2 comparison intervals.</a:t>
            </a:r>
          </a:p>
          <a:p>
            <a:pPr>
              <a:spcAft>
                <a:spcPts val="300"/>
              </a:spcAft>
              <a:defRPr sz="1150">
                <a:solidFill>
                  <a:srgbClr val="192234"/>
                </a:solidFill>
                <a:latin typeface="Aptos"/>
              </a:defRPr>
            </a:pPr>
            <a:r>
              <a:t>The 10 Vpp residual is still outside the interval, so an additional systematic effect or missing term is likely.</a:t>
            </a:r>
          </a:p>
          <a:p>
            <a:pPr>
              <a:spcAft>
                <a:spcPts val="300"/>
              </a:spcAft>
              <a:defRPr sz="1150">
                <a:solidFill>
                  <a:srgbClr val="192234"/>
                </a:solidFill>
                <a:latin typeface="Aptos"/>
              </a:defRPr>
            </a:pPr>
            <a:r>
              <a:t>Therefore, the voltage channel is functional and roughly linear, but not justified as uniformly accurate across the range.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_rule"/>
          <p:cNvSpPr/>
          <p:nvPr/>
        </p:nvSpPr>
        <p:spPr>
          <a:xfrm>
            <a:off x="0" y="0"/>
            <a:ext cx="12192000" cy="64008"/>
          </a:xfrm>
          <a:prstGeom prst="rect">
            <a:avLst/>
          </a:prstGeom>
          <a:solidFill>
            <a:srgbClr val="004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kicker"/>
          <p:cNvSpPr txBox="1"/>
          <p:nvPr/>
        </p:nvSpPr>
        <p:spPr>
          <a:xfrm>
            <a:off x="576072" y="365760"/>
            <a:ext cx="3749039" cy="228600"/>
          </a:xfrm>
          <a:prstGeom prst="rect">
            <a:avLst/>
          </a:prstGeom>
          <a:noFill/>
        </p:spPr>
        <p:txBody>
          <a:bodyPr wrap="square" lIns="18288" tIns="18288" rIns="18288" bIns="18288">
            <a:spAutoFit/>
          </a:bodyPr>
          <a:lstStyle/>
          <a:p>
            <a:pPr algn="l">
              <a:defRPr sz="1050" b="1">
                <a:solidFill>
                  <a:srgbClr val="2B79BC"/>
                </a:solidFill>
                <a:latin typeface="Aptos"/>
              </a:defRPr>
            </a:pPr>
            <a:r>
              <a:t>WHAT CAN BE CLAIMED</a:t>
            </a:r>
          </a:p>
        </p:txBody>
      </p:sp>
      <p:sp>
        <p:nvSpPr>
          <p:cNvPr id="4" name="slide_title"/>
          <p:cNvSpPr txBox="1"/>
          <p:nvPr/>
        </p:nvSpPr>
        <p:spPr>
          <a:xfrm>
            <a:off x="576072" y="713232"/>
            <a:ext cx="10607040" cy="502920"/>
          </a:xfrm>
          <a:prstGeom prst="rect">
            <a:avLst/>
          </a:prstGeom>
          <a:noFill/>
        </p:spPr>
        <p:txBody>
          <a:bodyPr wrap="square" lIns="18288" tIns="18288" rIns="18288" bIns="18288">
            <a:spAutoFit/>
          </a:bodyPr>
          <a:lstStyle/>
          <a:p>
            <a:pPr algn="l">
              <a:defRPr sz="2800" b="1">
                <a:solidFill>
                  <a:srgbClr val="192234"/>
                </a:solidFill>
                <a:latin typeface="Aptos"/>
              </a:defRPr>
            </a:pPr>
            <a:r>
              <a:t>Current uncertainty and limitations</a:t>
            </a:r>
          </a:p>
        </p:txBody>
      </p:sp>
      <p:sp>
        <p:nvSpPr>
          <p:cNvPr id="5" name="current_plot_card"/>
          <p:cNvSpPr/>
          <p:nvPr/>
        </p:nvSpPr>
        <p:spPr>
          <a:xfrm>
            <a:off x="685800" y="1261872"/>
            <a:ext cx="5120640" cy="3977639"/>
          </a:xfrm>
          <a:prstGeom prst="roundRect">
            <a:avLst/>
          </a:prstGeom>
          <a:solidFill>
            <a:srgbClr val="FFFFFF"/>
          </a:solidFill>
          <a:ln w="12700">
            <a:solidFill>
              <a:srgbClr val="CD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urrent_plot_title"/>
          <p:cNvSpPr txBox="1"/>
          <p:nvPr/>
        </p:nvSpPr>
        <p:spPr>
          <a:xfrm>
            <a:off x="960120" y="1490472"/>
            <a:ext cx="4389120" cy="274320"/>
          </a:xfrm>
          <a:prstGeom prst="rect">
            <a:avLst/>
          </a:prstGeom>
          <a:noFill/>
        </p:spPr>
        <p:txBody>
          <a:bodyPr wrap="square" lIns="18288" tIns="18288" rIns="18288" bIns="18288">
            <a:spAutoFit/>
          </a:bodyPr>
          <a:lstStyle/>
          <a:p>
            <a:pPr algn="l">
              <a:defRPr sz="1700" b="1">
                <a:solidFill>
                  <a:srgbClr val="00878C"/>
                </a:solidFill>
                <a:latin typeface="Aptos"/>
              </a:defRPr>
            </a:pPr>
            <a:r>
              <a:t>Current uncertainty at 0.30 A</a:t>
            </a:r>
          </a:p>
        </p:txBody>
      </p:sp>
      <p:pic>
        <p:nvPicPr>
          <p:cNvPr id="7" name="current_uncertainty_plot" descr="image.png"/>
          <p:cNvPicPr>
            <a:picLocks noChangeAspect="1"/>
          </p:cNvPicPr>
          <p:nvPr/>
        </p:nvPicPr>
        <p:blipFill>
          <a:blip r:embed="rId2"/>
          <a:stretch>
            <a:fillRect/>
          </a:stretch>
        </p:blipFill>
        <p:spPr>
          <a:xfrm>
            <a:off x="1207008" y="1828800"/>
            <a:ext cx="4114800" cy="2743200"/>
          </a:xfrm>
          <a:prstGeom prst="rect">
            <a:avLst/>
          </a:prstGeom>
        </p:spPr>
      </p:pic>
      <p:sp>
        <p:nvSpPr>
          <p:cNvPr id="8" name="current_plot_note"/>
          <p:cNvSpPr txBox="1"/>
          <p:nvPr/>
        </p:nvSpPr>
        <p:spPr>
          <a:xfrm>
            <a:off x="1033271" y="4690872"/>
            <a:ext cx="4407408" cy="256032"/>
          </a:xfrm>
          <a:prstGeom prst="rect">
            <a:avLst/>
          </a:prstGeom>
          <a:noFill/>
        </p:spPr>
        <p:txBody>
          <a:bodyPr wrap="square" lIns="18288" tIns="18288" rIns="18288" bIns="18288">
            <a:spAutoFit/>
          </a:bodyPr>
          <a:lstStyle/>
          <a:p>
            <a:pPr algn="ctr">
              <a:defRPr sz="1250" b="1">
                <a:solidFill>
                  <a:srgbClr val="54667E"/>
                </a:solidFill>
                <a:latin typeface="Aptos"/>
              </a:defRPr>
            </a:pPr>
            <a:r>
              <a:t>DMM Type-B term ≈ 32.3 mA standard uncertainty</a:t>
            </a:r>
          </a:p>
        </p:txBody>
      </p:sp>
      <p:sp>
        <p:nvSpPr>
          <p:cNvPr id="9" name="current_interp_card"/>
          <p:cNvSpPr/>
          <p:nvPr/>
        </p:nvSpPr>
        <p:spPr>
          <a:xfrm>
            <a:off x="6080760" y="1261872"/>
            <a:ext cx="5349240" cy="3977639"/>
          </a:xfrm>
          <a:prstGeom prst="roundRect">
            <a:avLst/>
          </a:prstGeom>
          <a:solidFill>
            <a:srgbClr val="E8F4FC"/>
          </a:solidFill>
          <a:ln w="12700">
            <a:solidFill>
              <a:srgbClr val="CD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urrent_interp_title"/>
          <p:cNvSpPr txBox="1"/>
          <p:nvPr/>
        </p:nvSpPr>
        <p:spPr>
          <a:xfrm>
            <a:off x="6355080" y="1517904"/>
            <a:ext cx="2011680" cy="320040"/>
          </a:xfrm>
          <a:prstGeom prst="rect">
            <a:avLst/>
          </a:prstGeom>
          <a:noFill/>
        </p:spPr>
        <p:txBody>
          <a:bodyPr wrap="square" lIns="18288" tIns="18288" rIns="18288" bIns="18288">
            <a:spAutoFit/>
          </a:bodyPr>
          <a:lstStyle/>
          <a:p>
            <a:pPr algn="l">
              <a:defRPr sz="2200" b="0">
                <a:solidFill>
                  <a:srgbClr val="192234"/>
                </a:solidFill>
                <a:latin typeface="Aptos"/>
              </a:defRPr>
            </a:pPr>
            <a:r>
              <a:t>Interpretation</a:t>
            </a:r>
          </a:p>
        </p:txBody>
      </p:sp>
      <p:sp>
        <p:nvSpPr>
          <p:cNvPr id="11" name="current_interp_lines"/>
          <p:cNvSpPr txBox="1"/>
          <p:nvPr/>
        </p:nvSpPr>
        <p:spPr>
          <a:xfrm>
            <a:off x="6382512" y="2011680"/>
            <a:ext cx="4617720" cy="1463040"/>
          </a:xfrm>
          <a:prstGeom prst="rect">
            <a:avLst/>
          </a:prstGeom>
          <a:noFill/>
        </p:spPr>
        <p:txBody>
          <a:bodyPr wrap="square" lIns="18288" tIns="18288" rIns="18288" bIns="18288">
            <a:spAutoFit/>
          </a:bodyPr>
          <a:lstStyle/>
          <a:p>
            <a:pPr>
              <a:spcAft>
                <a:spcPts val="300"/>
              </a:spcAft>
              <a:defRPr sz="1300">
                <a:solidFill>
                  <a:srgbClr val="192234"/>
                </a:solidFill>
                <a:latin typeface="Aptos"/>
              </a:defRPr>
            </a:pPr>
            <a:r>
              <a:t>The current channel response is highly linear over 0–0.46 A: R² ≈ 0.9996.</a:t>
            </a:r>
          </a:p>
          <a:p>
            <a:pPr>
              <a:spcAft>
                <a:spcPts val="300"/>
              </a:spcAft>
              <a:defRPr sz="1300">
                <a:solidFill>
                  <a:srgbClr val="192234"/>
                </a:solidFill>
                <a:latin typeface="Aptos"/>
              </a:defRPr>
            </a:pPr>
            <a:r>
              <a:t>However, the Duratool D03124 was used on its 10 A range, so the reference uncertainty dominates.</a:t>
            </a:r>
          </a:p>
          <a:p>
            <a:pPr>
              <a:spcAft>
                <a:spcPts val="300"/>
              </a:spcAft>
              <a:defRPr sz="1300">
                <a:solidFill>
                  <a:srgbClr val="192234"/>
                </a:solidFill>
                <a:latin typeface="Aptos"/>
              </a:defRPr>
            </a:pPr>
            <a:r>
              <a:t>Frame repeatability and ADC quantisation are very small compared with the DMM term.</a:t>
            </a:r>
          </a:p>
          <a:p>
            <a:pPr>
              <a:spcAft>
                <a:spcPts val="300"/>
              </a:spcAft>
              <a:defRPr sz="1300">
                <a:solidFill>
                  <a:srgbClr val="192234"/>
                </a:solidFill>
                <a:latin typeface="Aptos"/>
              </a:defRPr>
            </a:pPr>
            <a:r>
              <a:t>The test supports DC calibration and response shape, but not milliampere-level absolute accuracy.</a:t>
            </a:r>
          </a:p>
        </p:txBody>
      </p:sp>
      <p:sp>
        <p:nvSpPr>
          <p:cNvPr id="12" name="current_takeaway_box"/>
          <p:cNvSpPr/>
          <p:nvPr/>
        </p:nvSpPr>
        <p:spPr>
          <a:xfrm>
            <a:off x="6382512" y="4059936"/>
            <a:ext cx="4617720" cy="566928"/>
          </a:xfrm>
          <a:prstGeom prst="roundRect">
            <a:avLst/>
          </a:prstGeom>
          <a:solidFill>
            <a:srgbClr val="E8F9F2"/>
          </a:solidFill>
          <a:ln w="12700">
            <a:solidFill>
              <a:srgbClr val="A4E2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main_limit_label"/>
          <p:cNvSpPr txBox="1"/>
          <p:nvPr/>
        </p:nvSpPr>
        <p:spPr>
          <a:xfrm>
            <a:off x="6547104" y="4169663"/>
            <a:ext cx="1097280" cy="228600"/>
          </a:xfrm>
          <a:prstGeom prst="rect">
            <a:avLst/>
          </a:prstGeom>
          <a:noFill/>
        </p:spPr>
        <p:txBody>
          <a:bodyPr wrap="square" lIns="18288" tIns="18288" rIns="18288" bIns="18288">
            <a:spAutoFit/>
          </a:bodyPr>
          <a:lstStyle/>
          <a:p>
            <a:pPr algn="l">
              <a:defRPr sz="1400" b="1">
                <a:solidFill>
                  <a:srgbClr val="00878C"/>
                </a:solidFill>
                <a:latin typeface="Aptos"/>
              </a:defRPr>
            </a:pPr>
            <a:r>
              <a:t>Main limit</a:t>
            </a:r>
          </a:p>
        </p:txBody>
      </p:sp>
      <p:sp>
        <p:nvSpPr>
          <p:cNvPr id="14" name="main_limit_text"/>
          <p:cNvSpPr txBox="1"/>
          <p:nvPr/>
        </p:nvSpPr>
        <p:spPr>
          <a:xfrm>
            <a:off x="7635240" y="4133087"/>
            <a:ext cx="3127248" cy="292608"/>
          </a:xfrm>
          <a:prstGeom prst="rect">
            <a:avLst/>
          </a:prstGeom>
          <a:noFill/>
        </p:spPr>
        <p:txBody>
          <a:bodyPr wrap="square" lIns="18288" tIns="18288" rIns="18288" bIns="18288">
            <a:spAutoFit/>
          </a:bodyPr>
          <a:lstStyle/>
          <a:p>
            <a:pPr algn="l">
              <a:defRPr sz="1200" b="0">
                <a:solidFill>
                  <a:srgbClr val="192234"/>
                </a:solidFill>
                <a:latin typeface="Aptos"/>
              </a:defRPr>
            </a:pPr>
            <a:r>
              <a:t>Need a calibrated low-current reference before high-accuracy claims.</a:t>
            </a:r>
          </a:p>
        </p:txBody>
      </p:sp>
      <p:sp>
        <p:nvSpPr>
          <p:cNvPr id="15" name="bottom_banner"/>
          <p:cNvSpPr/>
          <p:nvPr/>
        </p:nvSpPr>
        <p:spPr>
          <a:xfrm>
            <a:off x="841248" y="5486400"/>
            <a:ext cx="10488168" cy="548640"/>
          </a:xfrm>
          <a:prstGeom prst="roundRect">
            <a:avLst/>
          </a:prstGeom>
          <a:solidFill>
            <a:srgbClr val="004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evidence_boundary"/>
          <p:cNvSpPr txBox="1"/>
          <p:nvPr/>
        </p:nvSpPr>
        <p:spPr>
          <a:xfrm>
            <a:off x="1051560" y="5641848"/>
            <a:ext cx="10012680" cy="274320"/>
          </a:xfrm>
          <a:prstGeom prst="rect">
            <a:avLst/>
          </a:prstGeom>
          <a:noFill/>
        </p:spPr>
        <p:txBody>
          <a:bodyPr wrap="square" lIns="18288" tIns="18288" rIns="18288" bIns="18288">
            <a:spAutoFit/>
          </a:bodyPr>
          <a:lstStyle/>
          <a:p>
            <a:pPr algn="ctr">
              <a:defRPr sz="1160" b="1">
                <a:solidFill>
                  <a:srgbClr val="FFFFFF"/>
                </a:solidFill>
                <a:latin typeface="Aptos"/>
              </a:defRPr>
            </a:pPr>
            <a:r>
              <a:t>Boundary: DC current calibration was completed; AC current, phase, power and power-factor accuracy were not physically validated.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20040"/>
            <a:ext cx="3657600" cy="201168"/>
          </a:xfrm>
          <a:prstGeom prst="rect">
            <a:avLst/>
          </a:prstGeom>
          <a:noFill/>
        </p:spPr>
        <p:txBody>
          <a:bodyPr wrap="square">
            <a:spAutoFit/>
          </a:bodyPr>
          <a:lstStyle/>
          <a:p>
            <a:r>
              <a:rPr sz="1000" b="1">
                <a:solidFill>
                  <a:srgbClr val="2D78B7"/>
                </a:solidFill>
                <a:latin typeface="Aptos"/>
              </a:rPr>
              <a:t>TAKEAWAY</a:t>
            </a:r>
          </a:p>
        </p:txBody>
      </p:sp>
      <p:sp>
        <p:nvSpPr>
          <p:cNvPr id="5" name="TextBox 4"/>
          <p:cNvSpPr txBox="1"/>
          <p:nvPr/>
        </p:nvSpPr>
        <p:spPr>
          <a:xfrm>
            <a:off x="566928" y="585216"/>
            <a:ext cx="10972800" cy="502920"/>
          </a:xfrm>
          <a:prstGeom prst="rect">
            <a:avLst/>
          </a:prstGeom>
          <a:noFill/>
        </p:spPr>
        <p:txBody>
          <a:bodyPr wrap="square">
            <a:spAutoFit/>
          </a:bodyPr>
          <a:lstStyle/>
          <a:p>
            <a:r>
              <a:rPr sz="2600" b="1">
                <a:solidFill>
                  <a:srgbClr val="172033"/>
                </a:solidFill>
                <a:latin typeface="Aptos"/>
              </a:rPr>
              <a:t>Conclusion and future work</a:t>
            </a:r>
          </a:p>
        </p:txBody>
      </p:sp>
      <p:sp>
        <p:nvSpPr>
          <p:cNvPr id="6" name="Rounded Rectangle 5"/>
          <p:cNvSpPr/>
          <p:nvPr/>
        </p:nvSpPr>
        <p:spPr>
          <a:xfrm>
            <a:off x="685800" y="1325880"/>
            <a:ext cx="5303520" cy="3794760"/>
          </a:xfrm>
          <a:prstGeom prst="roundRect">
            <a:avLst/>
          </a:prstGeom>
          <a:solidFill>
            <a:srgbClr val="FFFFFF"/>
          </a:solidFill>
          <a:ln w="12700">
            <a:solidFill>
              <a:srgbClr val="DC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1554480"/>
            <a:ext cx="1417320" cy="292608"/>
          </a:xfrm>
          <a:prstGeom prst="roundRect">
            <a:avLst/>
          </a:prstGeom>
          <a:solidFill>
            <a:srgbClr val="003B70"/>
          </a:solidFill>
          <a:ln>
            <a:solidFill>
              <a:srgbClr val="003B70"/>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300" b="1">
                <a:solidFill>
                  <a:srgbClr val="FFFFFF"/>
                </a:solidFill>
                <a:latin typeface="Aptos"/>
              </a:rPr>
              <a:t>Final result</a:t>
            </a:r>
          </a:p>
        </p:txBody>
      </p:sp>
      <p:sp>
        <p:nvSpPr>
          <p:cNvPr id="8" name="TextBox 7"/>
          <p:cNvSpPr txBox="1"/>
          <p:nvPr/>
        </p:nvSpPr>
        <p:spPr>
          <a:xfrm>
            <a:off x="960120" y="2011680"/>
            <a:ext cx="4572000" cy="411480"/>
          </a:xfrm>
          <a:prstGeom prst="rect">
            <a:avLst/>
          </a:prstGeom>
          <a:noFill/>
        </p:spPr>
        <p:txBody>
          <a:bodyPr wrap="square">
            <a:spAutoFit/>
          </a:bodyPr>
          <a:lstStyle/>
          <a:p>
            <a:r>
              <a:rPr sz="2500" b="1">
                <a:solidFill>
                  <a:srgbClr val="192234"/>
                </a:solidFill>
              </a:rPr>
              <a:t>Working FPGA power-quality prototype achieved.</a:t>
            </a:r>
          </a:p>
        </p:txBody>
      </p:sp>
      <p:sp>
        <p:nvSpPr>
          <p:cNvPr id="9" name="Rectangle 8"/>
          <p:cNvSpPr/>
          <p:nvPr/>
        </p:nvSpPr>
        <p:spPr>
          <a:xfrm>
            <a:off x="960120" y="2816351"/>
            <a:ext cx="73152" cy="43891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2788920"/>
            <a:ext cx="4389120" cy="182880"/>
          </a:xfrm>
          <a:prstGeom prst="rect">
            <a:avLst/>
          </a:prstGeom>
          <a:noFill/>
        </p:spPr>
        <p:txBody>
          <a:bodyPr wrap="square">
            <a:spAutoFit/>
          </a:bodyPr>
          <a:lstStyle/>
          <a:p>
            <a:r>
              <a:rPr sz="1200" b="1">
                <a:solidFill>
                  <a:srgbClr val="2D78B7"/>
                </a:solidFill>
                <a:latin typeface="Aptos"/>
              </a:rPr>
              <a:t>Integrated platform</a:t>
            </a:r>
          </a:p>
        </p:txBody>
      </p:sp>
      <p:sp>
        <p:nvSpPr>
          <p:cNvPr id="11" name="TextBox 10"/>
          <p:cNvSpPr txBox="1"/>
          <p:nvPr/>
        </p:nvSpPr>
        <p:spPr>
          <a:xfrm>
            <a:off x="1143000" y="2999232"/>
            <a:ext cx="4389120" cy="338328"/>
          </a:xfrm>
          <a:prstGeom prst="rect">
            <a:avLst/>
          </a:prstGeom>
          <a:noFill/>
        </p:spPr>
        <p:txBody>
          <a:bodyPr wrap="square">
            <a:spAutoFit/>
          </a:bodyPr>
          <a:lstStyle/>
          <a:p>
            <a:r>
              <a:rPr sz="1120" b="0">
                <a:solidFill>
                  <a:srgbClr val="172033"/>
                </a:solidFill>
                <a:latin typeface="Aptos"/>
              </a:rPr>
              <a:t>Custom sensing PCB, two ADS8320 ADCs, Nexys A7 FPGA, UART and Python GUI.</a:t>
            </a:r>
          </a:p>
        </p:txBody>
      </p:sp>
      <p:sp>
        <p:nvSpPr>
          <p:cNvPr id="12" name="Rectangle 11"/>
          <p:cNvSpPr/>
          <p:nvPr/>
        </p:nvSpPr>
        <p:spPr>
          <a:xfrm>
            <a:off x="960120" y="3474719"/>
            <a:ext cx="73152" cy="43891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447287"/>
            <a:ext cx="4389120" cy="182880"/>
          </a:xfrm>
          <a:prstGeom prst="rect">
            <a:avLst/>
          </a:prstGeom>
          <a:noFill/>
        </p:spPr>
        <p:txBody>
          <a:bodyPr wrap="square">
            <a:spAutoFit/>
          </a:bodyPr>
          <a:lstStyle/>
          <a:p>
            <a:r>
              <a:rPr sz="1200" b="1">
                <a:solidFill>
                  <a:srgbClr val="2D78B7"/>
                </a:solidFill>
                <a:latin typeface="Aptos"/>
              </a:rPr>
              <a:t>Validated evidence</a:t>
            </a:r>
          </a:p>
        </p:txBody>
      </p:sp>
      <p:sp>
        <p:nvSpPr>
          <p:cNvPr id="14" name="TextBox 13"/>
          <p:cNvSpPr txBox="1"/>
          <p:nvPr/>
        </p:nvSpPr>
        <p:spPr>
          <a:xfrm>
            <a:off x="1143000" y="3657599"/>
            <a:ext cx="4389120" cy="338328"/>
          </a:xfrm>
          <a:prstGeom prst="rect">
            <a:avLst/>
          </a:prstGeom>
          <a:noFill/>
        </p:spPr>
        <p:txBody>
          <a:bodyPr wrap="square">
            <a:spAutoFit/>
          </a:bodyPr>
          <a:lstStyle/>
          <a:p>
            <a:r>
              <a:rPr sz="1120" b="0">
                <a:solidFill>
                  <a:srgbClr val="172033"/>
                </a:solidFill>
                <a:latin typeface="Aptos"/>
              </a:rPr>
              <a:t>Voltage RMS at three levels, DC current calibration, physical sag/swell and FPGA timing/resource results.</a:t>
            </a:r>
          </a:p>
        </p:txBody>
      </p:sp>
      <p:sp>
        <p:nvSpPr>
          <p:cNvPr id="15" name="Rectangle 14"/>
          <p:cNvSpPr/>
          <p:nvPr/>
        </p:nvSpPr>
        <p:spPr>
          <a:xfrm>
            <a:off x="960120" y="4133087"/>
            <a:ext cx="73152" cy="438912"/>
          </a:xfrm>
          <a:prstGeom prst="rect">
            <a:avLst/>
          </a:prstGeom>
          <a:solidFill>
            <a:srgbClr val="E9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4105655"/>
            <a:ext cx="4389120" cy="182880"/>
          </a:xfrm>
          <a:prstGeom prst="rect">
            <a:avLst/>
          </a:prstGeom>
          <a:noFill/>
        </p:spPr>
        <p:txBody>
          <a:bodyPr wrap="square">
            <a:spAutoFit/>
          </a:bodyPr>
          <a:lstStyle/>
          <a:p>
            <a:r>
              <a:rPr sz="1200" b="1">
                <a:solidFill>
                  <a:srgbClr val="2D78B7"/>
                </a:solidFill>
                <a:latin typeface="Aptos"/>
              </a:rPr>
              <a:t>Key judgement</a:t>
            </a:r>
          </a:p>
        </p:txBody>
      </p:sp>
      <p:sp>
        <p:nvSpPr>
          <p:cNvPr id="17" name="TextBox 16"/>
          <p:cNvSpPr txBox="1"/>
          <p:nvPr/>
        </p:nvSpPr>
        <p:spPr>
          <a:xfrm>
            <a:off x="1143000" y="4315968"/>
            <a:ext cx="4389120" cy="338328"/>
          </a:xfrm>
          <a:prstGeom prst="rect">
            <a:avLst/>
          </a:prstGeom>
          <a:noFill/>
        </p:spPr>
        <p:txBody>
          <a:bodyPr wrap="square">
            <a:spAutoFit/>
          </a:bodyPr>
          <a:lstStyle/>
          <a:p>
            <a:r>
              <a:rPr sz="1120" b="0">
                <a:solidFill>
                  <a:srgbClr val="172033"/>
                </a:solidFill>
                <a:latin typeface="Aptos"/>
              </a:rPr>
              <a:t>Functionality was claimed only where real test evidence and uncertainty support it.</a:t>
            </a:r>
          </a:p>
        </p:txBody>
      </p:sp>
      <p:sp>
        <p:nvSpPr>
          <p:cNvPr id="18" name="Rounded Rectangle 17"/>
          <p:cNvSpPr/>
          <p:nvPr/>
        </p:nvSpPr>
        <p:spPr>
          <a:xfrm>
            <a:off x="6263640" y="1325880"/>
            <a:ext cx="5257800" cy="3794760"/>
          </a:xfrm>
          <a:prstGeom prst="roundRect">
            <a:avLst/>
          </a:prstGeom>
          <a:solidFill>
            <a:srgbClr val="FFFFFF"/>
          </a:solidFill>
          <a:ln w="12700">
            <a:solidFill>
              <a:srgbClr val="DC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37960" y="1554480"/>
            <a:ext cx="1417320" cy="292608"/>
          </a:xfrm>
          <a:prstGeom prst="roundRect">
            <a:avLst/>
          </a:prstGeom>
          <a:solidFill>
            <a:srgbClr val="E98B2A"/>
          </a:solidFill>
          <a:ln>
            <a:solidFill>
              <a:srgbClr val="E98B2A"/>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300" b="1">
                <a:solidFill>
                  <a:srgbClr val="FFFFFF"/>
                </a:solidFill>
                <a:latin typeface="Aptos"/>
              </a:rPr>
              <a:t>Next steps</a:t>
            </a:r>
          </a:p>
        </p:txBody>
      </p:sp>
      <p:sp>
        <p:nvSpPr>
          <p:cNvPr id="20" name="Oval 19"/>
          <p:cNvSpPr/>
          <p:nvPr/>
        </p:nvSpPr>
        <p:spPr>
          <a:xfrm>
            <a:off x="6537960" y="2039112"/>
            <a:ext cx="283464" cy="283464"/>
          </a:xfrm>
          <a:prstGeom prst="ellipse">
            <a:avLst/>
          </a:prstGeom>
          <a:solidFill>
            <a:srgbClr val="2D78B7"/>
          </a:solidFill>
          <a:ln>
            <a:solidFill>
              <a:srgbClr val="2D78B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ptos"/>
              </a:rPr>
              <a:t>1</a:t>
            </a:r>
          </a:p>
        </p:txBody>
      </p:sp>
      <p:sp>
        <p:nvSpPr>
          <p:cNvPr id="21" name="TextBox 20"/>
          <p:cNvSpPr txBox="1"/>
          <p:nvPr/>
        </p:nvSpPr>
        <p:spPr>
          <a:xfrm>
            <a:off x="6949440" y="2011680"/>
            <a:ext cx="4114800" cy="164592"/>
          </a:xfrm>
          <a:prstGeom prst="rect">
            <a:avLst/>
          </a:prstGeom>
          <a:noFill/>
        </p:spPr>
        <p:txBody>
          <a:bodyPr wrap="square">
            <a:spAutoFit/>
          </a:bodyPr>
          <a:lstStyle/>
          <a:p>
            <a:r>
              <a:rPr sz="1170" b="1">
                <a:solidFill>
                  <a:srgbClr val="172033"/>
                </a:solidFill>
                <a:latin typeface="Aptos"/>
              </a:rPr>
              <a:t>Improve reference instruments</a:t>
            </a:r>
          </a:p>
        </p:txBody>
      </p:sp>
      <p:sp>
        <p:nvSpPr>
          <p:cNvPr id="22" name="TextBox 21"/>
          <p:cNvSpPr txBox="1"/>
          <p:nvPr/>
        </p:nvSpPr>
        <p:spPr>
          <a:xfrm>
            <a:off x="6949440" y="2212848"/>
            <a:ext cx="4114800" cy="292608"/>
          </a:xfrm>
          <a:prstGeom prst="rect">
            <a:avLst/>
          </a:prstGeom>
          <a:noFill/>
        </p:spPr>
        <p:txBody>
          <a:bodyPr wrap="square">
            <a:spAutoFit/>
          </a:bodyPr>
          <a:lstStyle/>
          <a:p>
            <a:r>
              <a:rPr sz="980" b="0">
                <a:solidFill>
                  <a:srgbClr val="50606E"/>
                </a:solidFill>
                <a:latin typeface="Aptos"/>
              </a:rPr>
              <a:t>Use calibrated voltage and lower-current references.</a:t>
            </a:r>
          </a:p>
        </p:txBody>
      </p:sp>
      <p:sp>
        <p:nvSpPr>
          <p:cNvPr id="23" name="Oval 22"/>
          <p:cNvSpPr/>
          <p:nvPr/>
        </p:nvSpPr>
        <p:spPr>
          <a:xfrm>
            <a:off x="6537960" y="2606040"/>
            <a:ext cx="283464" cy="283464"/>
          </a:xfrm>
          <a:prstGeom prst="ellipse">
            <a:avLst/>
          </a:prstGeom>
          <a:solidFill>
            <a:srgbClr val="E98B2A"/>
          </a:solidFill>
          <a:ln>
            <a:solidFill>
              <a:srgbClr val="E98B2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ptos"/>
              </a:rPr>
              <a:t>2</a:t>
            </a:r>
          </a:p>
        </p:txBody>
      </p:sp>
      <p:sp>
        <p:nvSpPr>
          <p:cNvPr id="24" name="TextBox 23"/>
          <p:cNvSpPr txBox="1"/>
          <p:nvPr/>
        </p:nvSpPr>
        <p:spPr>
          <a:xfrm>
            <a:off x="6949440" y="2578608"/>
            <a:ext cx="4114800" cy="164592"/>
          </a:xfrm>
          <a:prstGeom prst="rect">
            <a:avLst/>
          </a:prstGeom>
          <a:noFill/>
        </p:spPr>
        <p:txBody>
          <a:bodyPr wrap="square">
            <a:spAutoFit/>
          </a:bodyPr>
          <a:lstStyle/>
          <a:p>
            <a:r>
              <a:rPr sz="1170" b="1">
                <a:solidFill>
                  <a:srgbClr val="172033"/>
                </a:solidFill>
                <a:latin typeface="Aptos"/>
              </a:rPr>
              <a:t>Investigate 10 Vpp residual</a:t>
            </a:r>
          </a:p>
        </p:txBody>
      </p:sp>
      <p:sp>
        <p:nvSpPr>
          <p:cNvPr id="25" name="TextBox 24"/>
          <p:cNvSpPr txBox="1"/>
          <p:nvPr/>
        </p:nvSpPr>
        <p:spPr>
          <a:xfrm>
            <a:off x="6949440" y="2779776"/>
            <a:ext cx="4114800" cy="292608"/>
          </a:xfrm>
          <a:prstGeom prst="rect">
            <a:avLst/>
          </a:prstGeom>
          <a:noFill/>
        </p:spPr>
        <p:txBody>
          <a:bodyPr wrap="square">
            <a:spAutoFit/>
          </a:bodyPr>
          <a:lstStyle/>
          <a:p>
            <a:r>
              <a:rPr sz="980" b="0">
                <a:solidFill>
                  <a:srgbClr val="50606E"/>
                </a:solidFill>
                <a:latin typeface="Aptos"/>
              </a:rPr>
              <a:t>Repeat with a documented reference chain and additional amplitude points.</a:t>
            </a:r>
          </a:p>
        </p:txBody>
      </p:sp>
      <p:sp>
        <p:nvSpPr>
          <p:cNvPr id="26" name="Oval 25"/>
          <p:cNvSpPr/>
          <p:nvPr/>
        </p:nvSpPr>
        <p:spPr>
          <a:xfrm>
            <a:off x="6537960" y="3172968"/>
            <a:ext cx="283464" cy="283464"/>
          </a:xfrm>
          <a:prstGeom prst="ellipse">
            <a:avLst/>
          </a:prstGeom>
          <a:solidFill>
            <a:srgbClr val="2D78B7"/>
          </a:solidFill>
          <a:ln>
            <a:solidFill>
              <a:srgbClr val="2D78B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ptos"/>
              </a:rPr>
              <a:t>3</a:t>
            </a:r>
          </a:p>
        </p:txBody>
      </p:sp>
      <p:sp>
        <p:nvSpPr>
          <p:cNvPr id="27" name="TextBox 26"/>
          <p:cNvSpPr txBox="1"/>
          <p:nvPr/>
        </p:nvSpPr>
        <p:spPr>
          <a:xfrm>
            <a:off x="6949440" y="3145536"/>
            <a:ext cx="4114800" cy="164592"/>
          </a:xfrm>
          <a:prstGeom prst="rect">
            <a:avLst/>
          </a:prstGeom>
          <a:noFill/>
        </p:spPr>
        <p:txBody>
          <a:bodyPr wrap="square">
            <a:spAutoFit/>
          </a:bodyPr>
          <a:lstStyle/>
          <a:p>
            <a:r>
              <a:rPr sz="1170" b="1">
                <a:solidFill>
                  <a:srgbClr val="172033"/>
                </a:solidFill>
                <a:latin typeface="Aptos"/>
              </a:rPr>
              <a:t>Complete AC validation</a:t>
            </a:r>
          </a:p>
        </p:txBody>
      </p:sp>
      <p:sp>
        <p:nvSpPr>
          <p:cNvPr id="28" name="TextBox 27"/>
          <p:cNvSpPr txBox="1"/>
          <p:nvPr/>
        </p:nvSpPr>
        <p:spPr>
          <a:xfrm>
            <a:off x="6949440" y="3346704"/>
            <a:ext cx="4114800" cy="292608"/>
          </a:xfrm>
          <a:prstGeom prst="rect">
            <a:avLst/>
          </a:prstGeom>
          <a:noFill/>
        </p:spPr>
        <p:txBody>
          <a:bodyPr wrap="square">
            <a:spAutoFit/>
          </a:bodyPr>
          <a:lstStyle/>
          <a:p>
            <a:r>
              <a:rPr sz="980" b="0">
                <a:solidFill>
                  <a:srgbClr val="50606E"/>
                </a:solidFill>
                <a:latin typeface="Aptos"/>
              </a:rPr>
              <a:t>Use an isolated AC source for phase, power and power-factor testing.</a:t>
            </a:r>
          </a:p>
        </p:txBody>
      </p:sp>
      <p:sp>
        <p:nvSpPr>
          <p:cNvPr id="29" name="Oval 28"/>
          <p:cNvSpPr/>
          <p:nvPr/>
        </p:nvSpPr>
        <p:spPr>
          <a:xfrm>
            <a:off x="6537960" y="3739896"/>
            <a:ext cx="283464" cy="283464"/>
          </a:xfrm>
          <a:prstGeom prst="ellipse">
            <a:avLst/>
          </a:prstGeom>
          <a:solidFill>
            <a:srgbClr val="2D78B7"/>
          </a:solidFill>
          <a:ln>
            <a:solidFill>
              <a:srgbClr val="2D78B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ptos"/>
              </a:rPr>
              <a:t>4</a:t>
            </a:r>
          </a:p>
        </p:txBody>
      </p:sp>
      <p:sp>
        <p:nvSpPr>
          <p:cNvPr id="30" name="TextBox 29"/>
          <p:cNvSpPr txBox="1"/>
          <p:nvPr/>
        </p:nvSpPr>
        <p:spPr>
          <a:xfrm>
            <a:off x="6949440" y="3712464"/>
            <a:ext cx="4114800" cy="164592"/>
          </a:xfrm>
          <a:prstGeom prst="rect">
            <a:avLst/>
          </a:prstGeom>
          <a:noFill/>
        </p:spPr>
        <p:txBody>
          <a:bodyPr wrap="square">
            <a:spAutoFit/>
          </a:bodyPr>
          <a:lstStyle/>
          <a:p>
            <a:r>
              <a:rPr sz="1170" b="1">
                <a:solidFill>
                  <a:srgbClr val="172033"/>
                </a:solidFill>
                <a:latin typeface="Aptos"/>
              </a:rPr>
              <a:t>Validate THD independently</a:t>
            </a:r>
          </a:p>
        </p:txBody>
      </p:sp>
      <p:sp>
        <p:nvSpPr>
          <p:cNvPr id="31" name="TextBox 30"/>
          <p:cNvSpPr txBox="1"/>
          <p:nvPr/>
        </p:nvSpPr>
        <p:spPr>
          <a:xfrm>
            <a:off x="6949440" y="3913632"/>
            <a:ext cx="4114800" cy="292608"/>
          </a:xfrm>
          <a:prstGeom prst="rect">
            <a:avLst/>
          </a:prstGeom>
          <a:noFill/>
        </p:spPr>
        <p:txBody>
          <a:bodyPr wrap="square">
            <a:spAutoFit/>
          </a:bodyPr>
          <a:lstStyle/>
          <a:p>
            <a:r>
              <a:rPr sz="980" b="0">
                <a:solidFill>
                  <a:srgbClr val="50606E"/>
                </a:solidFill>
                <a:latin typeface="Aptos"/>
              </a:rPr>
              <a:t>Apply known harmonic content and compare with a calibrated reference.</a:t>
            </a:r>
          </a:p>
        </p:txBody>
      </p:sp>
      <p:sp>
        <p:nvSpPr>
          <p:cNvPr id="32" name="Oval 31"/>
          <p:cNvSpPr/>
          <p:nvPr/>
        </p:nvSpPr>
        <p:spPr>
          <a:xfrm>
            <a:off x="6537960" y="4306824"/>
            <a:ext cx="283464" cy="283464"/>
          </a:xfrm>
          <a:prstGeom prst="ellipse">
            <a:avLst/>
          </a:prstGeom>
          <a:solidFill>
            <a:srgbClr val="2D78B7"/>
          </a:solidFill>
          <a:ln>
            <a:solidFill>
              <a:srgbClr val="2D78B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ptos"/>
              </a:rPr>
              <a:t>5</a:t>
            </a:r>
          </a:p>
        </p:txBody>
      </p:sp>
      <p:sp>
        <p:nvSpPr>
          <p:cNvPr id="33" name="TextBox 32"/>
          <p:cNvSpPr txBox="1"/>
          <p:nvPr/>
        </p:nvSpPr>
        <p:spPr>
          <a:xfrm>
            <a:off x="6949440" y="4279392"/>
            <a:ext cx="4114800" cy="164592"/>
          </a:xfrm>
          <a:prstGeom prst="rect">
            <a:avLst/>
          </a:prstGeom>
          <a:noFill/>
        </p:spPr>
        <p:txBody>
          <a:bodyPr wrap="square">
            <a:spAutoFit/>
          </a:bodyPr>
          <a:lstStyle/>
          <a:p>
            <a:r>
              <a:rPr sz="1170" b="1">
                <a:solidFill>
                  <a:srgbClr val="172033"/>
                </a:solidFill>
                <a:latin typeface="Aptos"/>
              </a:rPr>
              <a:t>Revise hardware</a:t>
            </a:r>
          </a:p>
        </p:txBody>
      </p:sp>
      <p:sp>
        <p:nvSpPr>
          <p:cNvPr id="34" name="TextBox 33"/>
          <p:cNvSpPr txBox="1"/>
          <p:nvPr/>
        </p:nvSpPr>
        <p:spPr>
          <a:xfrm>
            <a:off x="6949440" y="4480560"/>
            <a:ext cx="4114800" cy="292608"/>
          </a:xfrm>
          <a:prstGeom prst="rect">
            <a:avLst/>
          </a:prstGeom>
          <a:noFill/>
        </p:spPr>
        <p:txBody>
          <a:bodyPr wrap="square">
            <a:spAutoFit/>
          </a:bodyPr>
          <a:lstStyle/>
          <a:p>
            <a:r>
              <a:rPr sz="980" b="0">
                <a:solidFill>
                  <a:srgbClr val="50606E"/>
                </a:solidFill>
                <a:latin typeface="Aptos"/>
              </a:rPr>
              <a:t>Correct the power section and integrate the AMC3330 link on PCB.</a:t>
            </a:r>
          </a:p>
        </p:txBody>
      </p:sp>
      <p:sp>
        <p:nvSpPr>
          <p:cNvPr id="35" name="Rounded Rectangle 34"/>
          <p:cNvSpPr/>
          <p:nvPr/>
        </p:nvSpPr>
        <p:spPr>
          <a:xfrm>
            <a:off x="841248" y="5641848"/>
            <a:ext cx="10561320" cy="475488"/>
          </a:xfrm>
          <a:prstGeom prst="roundRect">
            <a:avLst/>
          </a:prstGeom>
          <a:solidFill>
            <a:srgbClr val="E8F6F1"/>
          </a:solidFill>
          <a:ln w="12700">
            <a:solidFill>
              <a:srgbClr val="B9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 y="5769864"/>
            <a:ext cx="10287000" cy="182880"/>
          </a:xfrm>
          <a:prstGeom prst="rect">
            <a:avLst/>
          </a:prstGeom>
          <a:noFill/>
        </p:spPr>
        <p:txBody>
          <a:bodyPr wrap="square">
            <a:spAutoFit/>
          </a:bodyPr>
          <a:lstStyle/>
          <a:p>
            <a:pPr algn="ctr"/>
            <a:r>
              <a:rPr sz="1280" b="1">
                <a:solidFill>
                  <a:srgbClr val="0F8064"/>
                </a:solidFill>
                <a:latin typeface="Aptos"/>
              </a:rPr>
              <a:t>Overall: the prototype is a functioning platform; the strongest future step is improved metrology, then full AC validation.</a:t>
            </a:r>
          </a:p>
        </p:txBody>
      </p:sp>
      <p:sp>
        <p:nvSpPr>
          <p:cNvPr id="37" name="TextBox 36"/>
          <p:cNvSpPr txBox="1"/>
          <p:nvPr/>
        </p:nvSpPr>
        <p:spPr>
          <a:xfrm>
            <a:off x="566928" y="6537960"/>
            <a:ext cx="3200400" cy="137160"/>
          </a:xfrm>
          <a:prstGeom prst="rect">
            <a:avLst/>
          </a:prstGeom>
          <a:noFill/>
        </p:spPr>
        <p:txBody>
          <a:bodyPr wrap="square">
            <a:spAutoFit/>
          </a:bodyPr>
          <a:lstStyle/>
          <a:p>
            <a:r>
              <a:rPr sz="650" b="0">
                <a:solidFill>
                  <a:srgbClr val="50606E"/>
                </a:solidFill>
                <a:latin typeface="Aptos"/>
              </a:rPr>
              <a:t>FPGA-Based Power Quality Monitoring</a:t>
            </a:r>
          </a:p>
        </p:txBody>
      </p:sp>
      <p:sp>
        <p:nvSpPr>
          <p:cNvPr id="38" name="TextBox 37"/>
          <p:cNvSpPr txBox="1"/>
          <p:nvPr/>
        </p:nvSpPr>
        <p:spPr>
          <a:xfrm>
            <a:off x="8321040" y="6537960"/>
            <a:ext cx="3200400" cy="137160"/>
          </a:xfrm>
          <a:prstGeom prst="rect">
            <a:avLst/>
          </a:prstGeom>
          <a:noFill/>
        </p:spPr>
        <p:txBody>
          <a:bodyPr wrap="square">
            <a:spAutoFit/>
          </a:bodyPr>
          <a:lstStyle/>
          <a:p>
            <a:pPr algn="r"/>
            <a:r>
              <a:rPr sz="650" b="0">
                <a:solidFill>
                  <a:srgbClr val="50606E"/>
                </a:solidFill>
                <a:latin typeface="Aptos"/>
              </a:rPr>
              <a:t>Hakeem Issah · MSc Electronic/Electrical Engineering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492C05-CA5A-1408-E77A-B7910A157EE3}"/>
              </a:ext>
            </a:extLst>
          </p:cNvPr>
          <p:cNvSpPr txBox="1"/>
          <p:nvPr/>
        </p:nvSpPr>
        <p:spPr>
          <a:xfrm>
            <a:off x="2987040" y="2458720"/>
            <a:ext cx="7802880" cy="1323439"/>
          </a:xfrm>
          <a:prstGeom prst="rect">
            <a:avLst/>
          </a:prstGeom>
          <a:noFill/>
        </p:spPr>
        <p:txBody>
          <a:bodyPr wrap="square" rtlCol="0">
            <a:spAutoFit/>
          </a:bodyPr>
          <a:lstStyle/>
          <a:p>
            <a:r>
              <a:rPr lang="en-GB" sz="8000" b="1" dirty="0"/>
              <a:t>THANK YOU</a:t>
            </a:r>
          </a:p>
        </p:txBody>
      </p:sp>
    </p:spTree>
    <p:extLst>
      <p:ext uri="{BB962C8B-B14F-4D97-AF65-F5344CB8AC3E}">
        <p14:creationId xmlns:p14="http://schemas.microsoft.com/office/powerpoint/2010/main" val="3184059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2105</Words>
  <Application>Microsoft Office PowerPoint</Application>
  <PresentationFormat>Widescreen</PresentationFormat>
  <Paragraphs>243</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Anglia Ruskin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FPGA-Based Power Quality Monitoring with Measurement Uncertainty Analysis</dc:title>
  <dc:subject>MSc Engineering Major Project Presentation</dc:subject>
  <dc:creator>Hakeem Issah</dc:creator>
  <cp:lastModifiedBy>Hakeem Issah</cp:lastModifiedBy>
  <cp:revision>2</cp:revision>
  <dcterms:created xsi:type="dcterms:W3CDTF">2026-09-17T18:35:55Z</dcterms:created>
  <dcterms:modified xsi:type="dcterms:W3CDTF">2026-09-18T14:32:32Z</dcterms:modified>
</cp:coreProperties>
</file>